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6" r:id="rId17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
  <Relationship Id="rId15" Type="http://schemas.openxmlformats.org/officeDocument/2006/relationships/slide" Target="slides/slide9.xml"/>
  <Relationship Id="rId16" Type="http://schemas.openxmlformats.org/officeDocument/2006/relationships/slide" Target="slides/slide10.xml"/>
  <Relationship Id="rId17" Type="http://schemas.openxmlformats.org/officeDocument/2006/relationships/slide" Target="slides/slide11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68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(20 s). Presentamos un sistema multiagente que hace el trabajo de una junta de diseño: seis agentes, cada uno con el rol de una disciplina de ingeniería, revisan un proyecto mecatrónico y entregan el expediente conceptual completo según la norma VDI 2206. A la derecha están los seis roles que van a ver a lo largo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(1 min). Un sistema mecatrónico mezcla mecánica, electrónica y software, y además tiene que ser mantenible y cumplir lo que pide el cliente. La norma VDI 2206 ordena ese trabajo con el modelo en V: se baja de los requisitos al diseño de cada dominio y se sube integrando y validando. En la práctica hay tres dificultades: las disciplinas trabajan en silos y los conflictos aparecen tarde; el conocimiento técnico está regado en manuales, catálogos y normas; y la documentación que exige la norma es pesada. Esto no es exclusivo de un gripper: pasa igual con un nodo IoT, una máquina especial o un AGV.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(1 min). Construimos una junta de diseño virtual. El usuario llena un formulario web con el tipo de sistema, el alcance, los requisitos y el costo objetivo, y puede adjuntar documentos. Con eso, seis agentes ejecutan siete tareas en orden, igual que una revisión de diseño real: Integración arma la matriz de requisitos, luego Mecánica, Electrónica, Software y RAMS proponen su subsistema, el Cliente audita y pide cambios, e Integración consolida el dossier final. Lo innovador: los agentes se pasan el trabajo entre sí, hay un agente que actúa como cliente crítico, y nada está amarrado a un producto específico. Esto responde a la línea de innovación de sistemas multiagente y comunicación inter-agente que pide el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(1 min 30 s). Arriba, el camino principal: la interfaz en Streamlit genera el contexto, un Flow de CrewAI lo carga y lanza el crew de seis agentes, y la salida son informes en Markdown con diagramas Mermaid. Abajo, lo que cubre la calidad técnica: (1) RAG agentic: los agentes de Mecánica, Electrónica, Software y RAMS tienen una herramienta de búsqueda sobre 6 manuales del robot CRP; el agente decide cuándo usarla; los embeddings se calculan en local con ONNX y se guardan en ChromaDB, y el índice solo se reconstruye si cambian los documentos. (2) MCP: conectamos el servidor MCP remoto de Tavily para que Mecánica y Electrónica busquen componentes y precios reales; cada búsqueda queda registrada y hay un tope de 4 por tarea para no gastar créditos. (3) LLM: Gemini, con una cadena de 9 modelos de respaldo ante el error 429 de cuota. (4) Guardrails: cada informe debe terminar con una marca de fin, cerrar sus diagramas y, en los BOM, citar las URL que devolvió la búsqueda; si no cumple, el agente lo reescribe hasta dos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(1 min 30 s, aquí va la demo en vivo). Entramos al formulario con este caso: un gripper de ventosas para un robot de 6 ejes que mueve láminas de acero de hasta 8 kg, con 24 V, aire a 6 bar y un presupuesto de 4.500 USD. Al ejecutar, la interfaz muestra el log de los agentes en vivo y al final cada informe en una pestaña, con diagramas Mermaid y botón de descarga. La tabla resume la matriz de cumplimiento que armó el sistema: 3,22 kg contra un límite de 6, un BOM de 1.955 USD contra 4.500, válvulas biestables para que la pieza no caiga si se va la energía y vacuóstatos para detectar la pieza. Los componentes del BOM salen de búsquedas web reales (por ejemplo ventosas Piab y eyectores SMC) con su URL. El agente Cliente aprobó con observaciones y pidió dos cambios, como haría un cliente real. Aclaración honesta: son valores de diseño conceptual propuestos por los agentes, no mediciones físicas.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Evaluación (1 min). No nos quedamos en “funciona”: cada corrida deja evidencia en dos registros, uno del guardrail y otro del MCP. En 4 corridas completas del flujo se generaron 28 informes y 27 pasaron todas las validaciones. El guardrail activó 4 reintentos: en una corrida los dos BOM no citaban las URL de la búsqueda y ambos se corrigieron solos; en otra, el agente de Electrónica no usó la búsqueda ni después de dos reintentos, y el sistema lo aceptó pero lo dejó marcado. Archivamos 16 corridas para comparar versiones del diseño. Lo que medimos: completitud, uso real de herramientas, citación de fuentes y cumplimiento de requisitos y costo, que audita el agente Cliente. Lo que falta, y lo decimos en la siguiente diapositiva: pruebas con usuarios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(1 min). Esta tabla es el resumen para el jurado: por cada criterio, qué entregamos. Originalidad: una junta de diseño completa con un agente cliente que pide cambios. Calidad técnica y tecnologías: LLM, RAG agentic con embeddings locales, MCP y guardrails, sobre CrewAI, Gemini, ChromaDB, Tavily y Streamlit. Funcionalidad: la interfaz corre el flujo completo. Evaluación: cada corrida queda auditada por el guardrail y por el registro del MCP. El informe escrito es el README técnico del repositorio, con arquitectura, configuración y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Futuro (1 min). Hoy dependemos de la API gratuita de Gemini: unas 20 solicitudes por día y por modelo, el contexto del cliente sale de la universidad y hay caídas por saturación o cuota. En paralelo ya corremos el crew completo en Apolo, el clúster de EAFIT, con Ollama y un modelo abierto: Qwen 3.8 de 27 mil millones de parámetros, cuantizado a 4 bits, con 131 mil tokens de contexto y unos 57 tokens por segundo. Eso elimina la cuota y deja los datos del proyecto en casa. El siguiente paso es llevar a ese modelo local el RAG, el MCP y la interfaz web, y después afinar un modelo abierto con los dossiers que el agente Cliente aprueba y con sus solicitudes de cambio.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A, solo si preguntan por el RAG. Arriba, la indexación: los 6 manuales PDF de la carpeta knowledge se leen con PyMuPDF, RagTool de crewai_tools los trocea en fragmentos de 1 500 caracteres con 150 de solape, los convierte en vectores con all-MiniLM-L6-v2 en ONNX, en el propio equipo, y los guarda en ChromaDB. Solo se reindexa si cambia algún documento. Abajo, la consulta: es agentic porque el agente decide cuándo buscar. Escribe la consulta en inglés, que es el idioma de los manuales; la consulta se convierte en vector con la misma red y ChromaDB devuelve los 4 fragmentos más parecidos con similitud de al menos 0,3. Nada de esto gasta cuota de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B, solo si preguntan por el MCP. Mecánica y Electrónica tienen el servidor MCP remoto de Tavily conectado con el soporte nativo de CrewAI (mcps con MCPServerHTTP). Solo habilitamos dos herramientas, search y extract. Los resultados traen productos reales con su URL, y el agente los pone en el BOM. Abajo, los controles: un tope de 4 búsquedas por tarea para no quedarse buscando sin escribir; un guardrail que exige al menos una búsqueda y que el BOM cite una URL devuelta, si no, reescribe; un registro de cada búsqueda en output/_mcp.log; y la API key va en el encabezado para que no quede en los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(20 s). Eso es VDI 2206 Multiagente: seis agentes, siete tareas y un dossier completo, con RAG sobre manuales, búsqueda web por MCP y guardrails que auditan cada informe. Gracias. Quedamos atentos a sus preguntas. Si preguntan por el RAG o por el MCP, después de esta diapositiva están los anexos A y B con los esquemas de cada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467693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219474"/>
            <a:ext cx="10566400" cy="3825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467693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219474"/>
            <a:ext cx="10566400" cy="3825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9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9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SI7016 · NLP APLICADO · EAFIT 2026-2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809948"/>
            <a:ext cx="7063740" cy="235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20"/>
              </a:lnSpc>
              <a:buNone/>
            </a:pPr>
            <a:r>
              <a:rPr lang="en-US" sz="6000" b="1" i="0" kern="0" spc="-1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equipo de ingeniería hecho de agentes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4395490"/>
            <a:ext cx="706374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multiagente que apoya el diseño conceptual de sistemas mecatrónicos bajo la norma VDI 2206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796359"/>
            <a:ext cx="10883392" cy="78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[Andres Arteaga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3D6"/>
                </a:solidFill>
                <a:latin typeface="Arial" pitchFamily="34" charset="0"/>
                <a:cs typeface="Arial" pitchFamily="34" charset="-120"/>
              </a:rPr>
              <a:t>Franco  Garces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17000" y="1587500"/>
            <a:ext cx="25400" cy="3683000"/>
          </a:xfrm>
          <a:prstGeom prst="rect">
            <a:avLst/>
          </a:prstGeom>
          <a:solidFill>
            <a:srgbClr val="2B39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515350" y="14414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E8692A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Integración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15350" y="21399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Mecánica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15350" y="28384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Electrónica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15350" y="35369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15350" y="42354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Mantenimiento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15350" y="49339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E8692A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Cliente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448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 · EL PROBLEMA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sistemas mecatrónicos es difícil</a:t>
            </a:r>
            <a:endParaRPr lang="en-US" sz="3200" dirty="0"/>
          </a:p>
        </p:txBody>
      </p:sp>
      <p:pic>
        <p:nvPicPr>
          <p:cNvPr id="4" name="Image 0" descr="Modelo en V de la norma VDI 2206: de los requisitos al diseño por dominio y de vuelta a la integración y valid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98563"/>
            <a:ext cx="5080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125563"/>
            <a:ext cx="1524000" cy="365720"/>
          </a:xfrm>
          <a:custGeom>
            <a:avLst/>
            <a:gdLst/>
            <a:ahLst/>
            <a:cxnLst/>
            <a:rect l="l" t="t" r="r" b="b"/>
            <a:pathLst>
              <a:path w="1524000" h="365720">
                <a:moveTo>
                  <a:pt x="182860" y="0"/>
                </a:moveTo>
                <a:lnTo>
                  <a:pt x="1341140" y="0"/>
                </a:lnTo>
                <a:arcTo wR="182860" hR="182860" stAng="16200000" swAng="5400000"/>
                <a:lnTo>
                  <a:pt x="1524000" y="182860"/>
                </a:lnTo>
                <a:arcTo wR="182860" hR="182860" stAng="0" swAng="5400000"/>
                <a:lnTo>
                  <a:pt x="182860" y="365720"/>
                </a:lnTo>
                <a:arcTo wR="182860" hR="182860" stAng="5400000" swAng="5400000"/>
                <a:lnTo>
                  <a:pt x="0" y="182860"/>
                </a:lnTo>
                <a:arcTo wR="182860" hR="182860" stAng="10800000" swAng="5400000"/>
                <a:close/>
              </a:path>
            </a:pathLst>
          </a:custGeom>
          <a:solidFill>
            <a:srgbClr val="111A2B"/>
          </a:solidFill>
          <a:ln/>
        </p:spPr>
        <p:txBody>
          <a:bodyPr wrap="square" lIns="76200" tIns="76200" rIns="76200" bIns="508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68800" y="2125563"/>
            <a:ext cx="1524000" cy="365720"/>
          </a:xfrm>
          <a:custGeom>
            <a:avLst/>
            <a:gdLst/>
            <a:ahLst/>
            <a:cxnLst/>
            <a:rect l="l" t="t" r="r" b="b"/>
            <a:pathLst>
              <a:path w="1524000" h="365720">
                <a:moveTo>
                  <a:pt x="182860" y="0"/>
                </a:moveTo>
                <a:lnTo>
                  <a:pt x="1341140" y="0"/>
                </a:lnTo>
                <a:arcTo wR="182860" hR="182860" stAng="16200000" swAng="5400000"/>
                <a:lnTo>
                  <a:pt x="1524000" y="182860"/>
                </a:lnTo>
                <a:arcTo wR="182860" hR="182860" stAng="0" swAng="5400000"/>
                <a:lnTo>
                  <a:pt x="182860" y="365720"/>
                </a:lnTo>
                <a:arcTo wR="182860" hR="182860" stAng="5400000" swAng="5400000"/>
                <a:lnTo>
                  <a:pt x="0" y="182860"/>
                </a:lnTo>
                <a:arcTo wR="182860" hR="182860" stAng="10800000" swAng="5400000"/>
                <a:close/>
              </a:path>
            </a:pathLst>
          </a:custGeom>
          <a:solidFill>
            <a:srgbClr val="111A2B"/>
          </a:solidFill>
          <a:ln/>
        </p:spPr>
        <p:txBody>
          <a:bodyPr wrap="square" lIns="76200" tIns="76200" rIns="76200" bIns="508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11300" y="3459063"/>
            <a:ext cx="1905000" cy="365720"/>
          </a:xfrm>
          <a:custGeom>
            <a:avLst/>
            <a:gdLst/>
            <a:ahLst/>
            <a:cxnLst/>
            <a:rect l="l" t="t" r="r" b="b"/>
            <a:pathLst>
              <a:path w="1905000" h="365720">
                <a:moveTo>
                  <a:pt x="182860" y="0"/>
                </a:moveTo>
                <a:lnTo>
                  <a:pt x="1722140" y="0"/>
                </a:lnTo>
                <a:arcTo wR="182860" hR="182860" stAng="16200000" swAng="5400000"/>
                <a:lnTo>
                  <a:pt x="1905000" y="182860"/>
                </a:lnTo>
                <a:arcTo wR="182860" hR="182860" stAng="0" swAng="5400000"/>
                <a:lnTo>
                  <a:pt x="182860" y="365720"/>
                </a:lnTo>
                <a:arcTo wR="182860" hR="182860" stAng="5400000" swAng="5400000"/>
                <a:lnTo>
                  <a:pt x="0" y="182860"/>
                </a:lnTo>
                <a:arcTo wR="182860" hR="182860" stAng="10800000" swAng="5400000"/>
                <a:close/>
              </a:path>
            </a:pathLst>
          </a:custGeom>
          <a:solidFill>
            <a:srgbClr val="111A2B"/>
          </a:solidFill>
          <a:ln/>
        </p:spPr>
        <p:txBody>
          <a:bodyPr wrap="square" lIns="76073" tIns="76200" rIns="76073" bIns="508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sistema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9800" y="3459063"/>
            <a:ext cx="1587500" cy="365720"/>
          </a:xfrm>
          <a:custGeom>
            <a:avLst/>
            <a:gdLst/>
            <a:ahLst/>
            <a:cxnLst/>
            <a:rect l="l" t="t" r="r" b="b"/>
            <a:pathLst>
              <a:path w="1587500" h="365720">
                <a:moveTo>
                  <a:pt x="182860" y="0"/>
                </a:moveTo>
                <a:lnTo>
                  <a:pt x="1404640" y="0"/>
                </a:lnTo>
                <a:arcTo wR="182860" hR="182860" stAng="16200000" swAng="5400000"/>
                <a:lnTo>
                  <a:pt x="1587500" y="182860"/>
                </a:lnTo>
                <a:arcTo wR="182860" hR="182860" stAng="0" swAng="5400000"/>
                <a:lnTo>
                  <a:pt x="182860" y="365720"/>
                </a:lnTo>
                <a:arcTo wR="182860" hR="182860" stAng="5400000" swAng="5400000"/>
                <a:lnTo>
                  <a:pt x="0" y="182860"/>
                </a:lnTo>
                <a:arcTo wR="182860" hR="182860" stAng="10800000" swAng="5400000"/>
                <a:close/>
              </a:path>
            </a:pathLst>
          </a:custGeom>
          <a:solidFill>
            <a:srgbClr val="111A2B"/>
          </a:solidFill>
          <a:ln/>
        </p:spPr>
        <p:txBody>
          <a:bodyPr wrap="square" lIns="76200" tIns="76200" rIns="76200" bIns="508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38300" y="4792563"/>
            <a:ext cx="3429000" cy="365720"/>
          </a:xfrm>
          <a:custGeom>
            <a:avLst/>
            <a:gdLst/>
            <a:ahLst/>
            <a:cxnLst/>
            <a:rect l="l" t="t" r="r" b="b"/>
            <a:pathLst>
              <a:path w="3429000" h="365720">
                <a:moveTo>
                  <a:pt x="182860" y="0"/>
                </a:moveTo>
                <a:lnTo>
                  <a:pt x="3246140" y="0"/>
                </a:lnTo>
                <a:arcTo wR="182860" hR="182860" stAng="16200000" swAng="5400000"/>
                <a:lnTo>
                  <a:pt x="3429000" y="182860"/>
                </a:lnTo>
                <a:arcTo wR="182860" hR="182860" stAng="0" swAng="5400000"/>
                <a:lnTo>
                  <a:pt x="182860" y="365720"/>
                </a:lnTo>
                <a:arcTo wR="182860" hR="182860" stAng="5400000" swAng="5400000"/>
                <a:lnTo>
                  <a:pt x="0" y="182860"/>
                </a:lnTo>
                <a:arcTo wR="182860" hR="182860" stAng="10800000" swAng="5400000"/>
                <a:close/>
              </a:path>
            </a:pathLst>
          </a:custGeom>
          <a:solidFill>
            <a:srgbClr val="E8692A"/>
          </a:solidFill>
          <a:ln/>
        </p:spPr>
        <p:txBody>
          <a:bodyPr wrap="square" lIns="53213" tIns="76200" rIns="53213" bIns="508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Mecánica · Electrónica · Software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71725" y="2531963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Modelo en V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9200" y="1930301"/>
            <a:ext cx="5080000" cy="1061541"/>
          </a:xfrm>
          <a:prstGeom prst="roundRect">
            <a:avLst>
              <a:gd name="adj" fmla="val 4785"/>
            </a:avLst>
          </a:prstGeom>
          <a:solidFill>
            <a:srgbClr val="FBFA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6299200" y="1930301"/>
            <a:ext cx="5080000" cy="1061541"/>
          </a:xfrm>
          <a:custGeom>
            <a:avLst/>
            <a:gdLst/>
            <a:ahLst/>
            <a:cxnLst/>
            <a:rect l="l" t="t" r="r" b="b"/>
            <a:pathLst>
              <a:path w="5080000" h="1061541">
                <a:moveTo>
                  <a:pt x="50800" y="1061541"/>
                </a:moveTo>
                <a:lnTo>
                  <a:pt x="50800" y="1061541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1010741"/>
                </a:lnTo>
                <a:arcTo wR="12700" hR="50800" stAng="10800000" swAng="-5400000"/>
                <a:close/>
              </a:path>
            </a:pathLst>
          </a:cu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540500" y="2082701"/>
            <a:ext cx="47745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Disciplinas en silos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40500" y="2377281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área decide por separado; los choques entre subsistemas aparecen tarde.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99200" y="3118842"/>
            <a:ext cx="5080000" cy="1061541"/>
          </a:xfrm>
          <a:prstGeom prst="roundRect">
            <a:avLst>
              <a:gd name="adj" fmla="val 4785"/>
            </a:avLst>
          </a:prstGeom>
          <a:solidFill>
            <a:srgbClr val="FBFA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6299200" y="3118842"/>
            <a:ext cx="5080000" cy="1061541"/>
          </a:xfrm>
          <a:custGeom>
            <a:avLst/>
            <a:gdLst/>
            <a:ahLst/>
            <a:cxnLst/>
            <a:rect l="l" t="t" r="r" b="b"/>
            <a:pathLst>
              <a:path w="5080000" h="1061541">
                <a:moveTo>
                  <a:pt x="50800" y="1061541"/>
                </a:moveTo>
                <a:lnTo>
                  <a:pt x="50800" y="1061541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1010741"/>
                </a:lnTo>
                <a:arcTo wR="12700" hR="50800" stAng="10800000" swAng="-5400000"/>
                <a:close/>
              </a:path>
            </a:pathLst>
          </a:cu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540500" y="3271242"/>
            <a:ext cx="47745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 disperso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40500" y="3565823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Manuales, catálogos, normas y precios viven en fuentes distintas.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99200" y="4307384"/>
            <a:ext cx="5080000" cy="1061541"/>
          </a:xfrm>
          <a:prstGeom prst="roundRect">
            <a:avLst>
              <a:gd name="adj" fmla="val 4785"/>
            </a:avLst>
          </a:prstGeom>
          <a:solidFill>
            <a:srgbClr val="FBFA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6299200" y="4307384"/>
            <a:ext cx="5080000" cy="1061541"/>
          </a:xfrm>
          <a:custGeom>
            <a:avLst/>
            <a:gdLst/>
            <a:ahLst/>
            <a:cxnLst/>
            <a:rect l="l" t="t" r="r" b="b"/>
            <a:pathLst>
              <a:path w="5080000" h="1061541">
                <a:moveTo>
                  <a:pt x="50800" y="1061541"/>
                </a:moveTo>
                <a:lnTo>
                  <a:pt x="50800" y="1061541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1010741"/>
                </a:lnTo>
                <a:arcTo wR="12700" hR="50800" stAng="10800000" swAng="-5400000"/>
                <a:close/>
              </a:path>
            </a:pathLst>
          </a:cu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6540500" y="4459784"/>
            <a:ext cx="47745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exigente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40500" y="4754364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proyecto pide requisitos, arquitectura, BOM, análisis RAMS y validación.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a robots, efectores finales, nodos IoT, máquinas especiales y AGV: cualquier producto que combine mecánica, electrónica y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63600"/>
            <a:ext cx="26247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 · NUESTRA SOLUCIÓN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533029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junta de diseño hecha de agentes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385219"/>
            <a:ext cx="10566400" cy="434280"/>
          </a:xfrm>
          <a:prstGeom prst="roundRect">
            <a:avLst>
              <a:gd name="adj" fmla="val 17546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90600" y="2495649"/>
            <a:ext cx="7418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ENTRADA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2459" y="2486819"/>
            <a:ext cx="170299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+ adjuntos</a:t>
            </a:r>
            <a:endParaRPr lang="en-US" sz="13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35449" y="2526109"/>
            <a:ext cx="3048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1849" y="2495649"/>
            <a:ext cx="8332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 TAREAS</a:t>
            </a:r>
            <a:endParaRPr lang="en-US" sz="12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5088" y="2526109"/>
            <a:ext cx="3048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81488" y="2495649"/>
            <a:ext cx="6503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SALIDA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731867" y="2486819"/>
            <a:ext cx="267057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informes + dossier VDI 2206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2800" y="3224808"/>
            <a:ext cx="1444129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812800" y="3224808"/>
            <a:ext cx="1444129" cy="1152922"/>
          </a:xfrm>
          <a:custGeom>
            <a:avLst/>
            <a:gdLst/>
            <a:ahLst/>
            <a:cxnLst/>
            <a:rect l="l" t="t" r="r" b="b"/>
            <a:pathLst>
              <a:path w="1444129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629" y="0"/>
                </a:lnTo>
                <a:arcTo wR="63500" hR="63500" stAng="16200000" swAng="5400000"/>
                <a:lnTo>
                  <a:pt x="1444129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901700" y="336450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01700" y="361592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01700" y="3867348"/>
            <a:ext cx="131712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333129" y="3224808"/>
            <a:ext cx="1444129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2333129" y="3224808"/>
            <a:ext cx="1444129" cy="1152922"/>
          </a:xfrm>
          <a:custGeom>
            <a:avLst/>
            <a:gdLst/>
            <a:ahLst/>
            <a:cxnLst/>
            <a:rect l="l" t="t" r="r" b="b"/>
            <a:pathLst>
              <a:path w="1444129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629" y="0"/>
                </a:lnTo>
                <a:arcTo wR="63500" hR="63500" stAng="16200000" swAng="5400000"/>
                <a:lnTo>
                  <a:pt x="1444129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5B7F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6"/>
          <p:cNvSpPr/>
          <p:nvPr/>
        </p:nvSpPr>
        <p:spPr>
          <a:xfrm>
            <a:off x="2422029" y="336450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22029" y="361592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Mecánica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422029" y="3867348"/>
            <a:ext cx="131712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y BOM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853458" y="3224808"/>
            <a:ext cx="1444228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0"/>
          <p:cNvSpPr/>
          <p:nvPr/>
        </p:nvSpPr>
        <p:spPr>
          <a:xfrm>
            <a:off x="3853458" y="3224808"/>
            <a:ext cx="1444228" cy="1152922"/>
          </a:xfrm>
          <a:custGeom>
            <a:avLst/>
            <a:gdLst/>
            <a:ahLst/>
            <a:cxnLst/>
            <a:rect l="l" t="t" r="r" b="b"/>
            <a:pathLst>
              <a:path w="1444228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728" y="0"/>
                </a:lnTo>
                <a:arcTo wR="63500" hR="63500" stAng="16200000" swAng="5400000"/>
                <a:lnTo>
                  <a:pt x="1444228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5B7F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1"/>
          <p:cNvSpPr/>
          <p:nvPr/>
        </p:nvSpPr>
        <p:spPr>
          <a:xfrm>
            <a:off x="3942358" y="3364508"/>
            <a:ext cx="1317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942358" y="3615928"/>
            <a:ext cx="1317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Electrónica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942358" y="3867348"/>
            <a:ext cx="131722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y BOM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373886" y="3224808"/>
            <a:ext cx="1444129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5"/>
          <p:cNvSpPr/>
          <p:nvPr/>
        </p:nvSpPr>
        <p:spPr>
          <a:xfrm>
            <a:off x="5373886" y="3224808"/>
            <a:ext cx="1444129" cy="1152922"/>
          </a:xfrm>
          <a:custGeom>
            <a:avLst/>
            <a:gdLst/>
            <a:ahLst/>
            <a:cxnLst/>
            <a:rect l="l" t="t" r="r" b="b"/>
            <a:pathLst>
              <a:path w="1444129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629" y="0"/>
                </a:lnTo>
                <a:arcTo wR="63500" hR="63500" stAng="16200000" swAng="5400000"/>
                <a:lnTo>
                  <a:pt x="1444129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5B7F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6"/>
          <p:cNvSpPr/>
          <p:nvPr/>
        </p:nvSpPr>
        <p:spPr>
          <a:xfrm>
            <a:off x="5462786" y="336450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462786" y="361592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462786" y="3867348"/>
            <a:ext cx="131712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sin código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894215" y="3224808"/>
            <a:ext cx="1444228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0"/>
          <p:cNvSpPr/>
          <p:nvPr/>
        </p:nvSpPr>
        <p:spPr>
          <a:xfrm>
            <a:off x="6894215" y="3224808"/>
            <a:ext cx="1444228" cy="1152922"/>
          </a:xfrm>
          <a:custGeom>
            <a:avLst/>
            <a:gdLst/>
            <a:ahLst/>
            <a:cxnLst/>
            <a:rect l="l" t="t" r="r" b="b"/>
            <a:pathLst>
              <a:path w="1444228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728" y="0"/>
                </a:lnTo>
                <a:arcTo wR="63500" hR="63500" stAng="16200000" swAng="5400000"/>
                <a:lnTo>
                  <a:pt x="1444228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5B7F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1"/>
          <p:cNvSpPr/>
          <p:nvPr/>
        </p:nvSpPr>
        <p:spPr>
          <a:xfrm>
            <a:off x="6983115" y="3364508"/>
            <a:ext cx="1317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983115" y="3615928"/>
            <a:ext cx="1317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RAMS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983115" y="3867348"/>
            <a:ext cx="131722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y diagnóstico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8414643" y="3224808"/>
            <a:ext cx="1444129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5"/>
          <p:cNvSpPr/>
          <p:nvPr/>
        </p:nvSpPr>
        <p:spPr>
          <a:xfrm>
            <a:off x="8414643" y="3224808"/>
            <a:ext cx="1444129" cy="1152922"/>
          </a:xfrm>
          <a:custGeom>
            <a:avLst/>
            <a:gdLst/>
            <a:ahLst/>
            <a:cxnLst/>
            <a:rect l="l" t="t" r="r" b="b"/>
            <a:pathLst>
              <a:path w="1444129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629" y="0"/>
                </a:lnTo>
                <a:arcTo wR="63500" hR="63500" stAng="16200000" swAng="5400000"/>
                <a:lnTo>
                  <a:pt x="1444129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5B7F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6"/>
          <p:cNvSpPr/>
          <p:nvPr/>
        </p:nvSpPr>
        <p:spPr>
          <a:xfrm>
            <a:off x="8503543" y="336450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8503543" y="3615928"/>
            <a:ext cx="1317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8503543" y="3867348"/>
            <a:ext cx="131712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cambios (ECR)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9934972" y="3224808"/>
            <a:ext cx="1444228" cy="1152922"/>
          </a:xfrm>
          <a:prstGeom prst="roundRect">
            <a:avLst>
              <a:gd name="adj" fmla="val 5508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0"/>
          <p:cNvSpPr/>
          <p:nvPr/>
        </p:nvSpPr>
        <p:spPr>
          <a:xfrm>
            <a:off x="9934972" y="3224808"/>
            <a:ext cx="1444228" cy="1152922"/>
          </a:xfrm>
          <a:custGeom>
            <a:avLst/>
            <a:gdLst/>
            <a:ahLst/>
            <a:cxnLst/>
            <a:rect l="l" t="t" r="r" b="b"/>
            <a:pathLst>
              <a:path w="1444228" h="1152922">
                <a:moveTo>
                  <a:pt x="0" y="63500"/>
                </a:moveTo>
                <a:lnTo>
                  <a:pt x="0" y="63500"/>
                </a:lnTo>
                <a:arcTo wR="63500" hR="63500" stAng="10800000" swAng="5400000"/>
                <a:lnTo>
                  <a:pt x="1380728" y="0"/>
                </a:lnTo>
                <a:arcTo wR="63500" hR="63500" stAng="16200000" swAng="5400000"/>
                <a:lnTo>
                  <a:pt x="1444228" y="63500"/>
                </a:lnTo>
                <a:arcTo wR="63500" hR="38100" stAng="0" swAng="-5400000"/>
                <a:lnTo>
                  <a:pt x="63500" y="25400"/>
                </a:lnTo>
                <a:arcTo wR="63500" hR="38100" stAng="16200000" swAng="-5400000"/>
                <a:close/>
              </a:path>
            </a:pathLst>
          </a:cu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1"/>
          <p:cNvSpPr/>
          <p:nvPr/>
        </p:nvSpPr>
        <p:spPr>
          <a:xfrm>
            <a:off x="10023872" y="3364508"/>
            <a:ext cx="1317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0023872" y="3615928"/>
            <a:ext cx="1317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10023872" y="3867348"/>
            <a:ext cx="131722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consolidado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19150" y="4789289"/>
            <a:ext cx="3407767" cy="1249561"/>
          </a:xfrm>
          <a:prstGeom prst="roundRect">
            <a:avLst>
              <a:gd name="adj" fmla="val 5590"/>
            </a:avLst>
          </a:prstGeom>
          <a:noFill/>
          <a:ln w="12700">
            <a:solidFill>
              <a:srgbClr val="2B39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5"/>
          <p:cNvSpPr/>
          <p:nvPr/>
        </p:nvSpPr>
        <p:spPr>
          <a:xfrm>
            <a:off x="1003300" y="4948039"/>
            <a:ext cx="31306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disciplinas se escuchan</a:t>
            </a:r>
            <a:endParaRPr lang="en-US" sz="1500" dirty="0"/>
          </a:p>
        </p:txBody>
      </p:sp>
      <p:sp>
        <p:nvSpPr>
          <p:cNvPr id="50" name="Text 46"/>
          <p:cNvSpPr/>
          <p:nvPr/>
        </p:nvSpPr>
        <p:spPr>
          <a:xfrm>
            <a:off x="1003300" y="5240139"/>
            <a:ext cx="313065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agente lee lo que decidieron los anteriores: la electrónica parte del concepto mecánico.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4392017" y="4789289"/>
            <a:ext cx="3407866" cy="1249561"/>
          </a:xfrm>
          <a:prstGeom prst="roundRect">
            <a:avLst>
              <a:gd name="adj" fmla="val 5590"/>
            </a:avLst>
          </a:prstGeom>
          <a:noFill/>
          <a:ln w="12700">
            <a:solidFill>
              <a:srgbClr val="2B39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48"/>
          <p:cNvSpPr/>
          <p:nvPr/>
        </p:nvSpPr>
        <p:spPr>
          <a:xfrm>
            <a:off x="4576167" y="4948039"/>
            <a:ext cx="31307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cliente exigente adentro</a:t>
            </a:r>
            <a:endParaRPr lang="en-US" sz="1500" dirty="0"/>
          </a:p>
        </p:txBody>
      </p:sp>
      <p:sp>
        <p:nvSpPr>
          <p:cNvPr id="53" name="Text 49"/>
          <p:cNvSpPr/>
          <p:nvPr/>
        </p:nvSpPr>
        <p:spPr>
          <a:xfrm>
            <a:off x="4576167" y="5240139"/>
            <a:ext cx="31307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Cliente audita costo y requisitos, y emite solicitudes de cambio.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7964984" y="4789289"/>
            <a:ext cx="3407866" cy="1249561"/>
          </a:xfrm>
          <a:prstGeom prst="roundRect">
            <a:avLst>
              <a:gd name="adj" fmla="val 5590"/>
            </a:avLst>
          </a:prstGeom>
          <a:noFill/>
          <a:ln w="12700">
            <a:solidFill>
              <a:srgbClr val="2B39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1"/>
          <p:cNvSpPr/>
          <p:nvPr/>
        </p:nvSpPr>
        <p:spPr>
          <a:xfrm>
            <a:off x="8149134" y="4948039"/>
            <a:ext cx="31307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cualquier sistema</a:t>
            </a:r>
            <a:endParaRPr lang="en-US" sz="1500" dirty="0"/>
          </a:p>
        </p:txBody>
      </p:sp>
      <p:sp>
        <p:nvSpPr>
          <p:cNvPr id="56" name="Text 52"/>
          <p:cNvSpPr/>
          <p:nvPr/>
        </p:nvSpPr>
        <p:spPr>
          <a:xfrm>
            <a:off x="8149134" y="5240139"/>
            <a:ext cx="31307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tareas no dependen del caso: gripper, nodo IoT, máquina especial.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63600"/>
            <a:ext cx="22498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448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 · CÓMO FUNCIONA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548904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técnica del curso tiene su lugar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416969"/>
            <a:ext cx="2298700" cy="741561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5200" y="2543969"/>
            <a:ext cx="20537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Streamlit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200" y="2782689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</a:t>
            </a:r>
            <a:endParaRPr lang="en-US" sz="14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7700" y="2711549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8700" y="2416969"/>
            <a:ext cx="2298700" cy="741561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721100" y="2543969"/>
            <a:ext cx="20537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CrewAI 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21100" y="2782689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Orquestación</a:t>
            </a:r>
            <a:endParaRPr lang="en-US" sz="14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711549"/>
            <a:ext cx="3048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4600" y="2416969"/>
            <a:ext cx="2298700" cy="741561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/>
          <p:nvPr/>
        </p:nvSpPr>
        <p:spPr>
          <a:xfrm>
            <a:off x="6477000" y="2543969"/>
            <a:ext cx="20537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Crew secuencial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77000" y="2782689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agentes</a:t>
            </a:r>
            <a:endParaRPr lang="en-US" sz="1400" dirty="0"/>
          </a:p>
        </p:txBody>
      </p:sp>
      <p:pic>
        <p:nvPicPr>
          <p:cNvPr id="16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99500" y="2711549"/>
            <a:ext cx="304800" cy="1524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080500" y="2416969"/>
            <a:ext cx="2298700" cy="741561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9232900" y="2543969"/>
            <a:ext cx="20537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Markdown + Mermaid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232900" y="2782689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2800" y="357971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 QUE USAN LOS AGENTES MIENTRAS TRABAJAN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5975" y="4217293"/>
            <a:ext cx="2520950" cy="1824732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3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950" y="4405809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01750" y="4398268"/>
            <a:ext cx="14632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agentic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96950" y="4718248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F5F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ChromaDB · ONNX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96950" y="5007769"/>
            <a:ext cx="22237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decide cuándo consultar 6 manuales técnicos: robot, PLC, armario eléctrico y soldadura.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495675" y="4217293"/>
            <a:ext cx="2520950" cy="1824732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4" descr="Glob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76650" y="4405809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81450" y="4398268"/>
            <a:ext cx="54185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3676650" y="4718248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F5F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Servidor Tavily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76650" y="5007769"/>
            <a:ext cx="222377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Mecánica y Electrónica buscan componentes reales en la web y citan la URL en el BOM.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75375" y="4217293"/>
            <a:ext cx="2520950" cy="1824732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5" descr="Light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56350" y="4405809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61150" y="4398268"/>
            <a:ext cx="50101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356350" y="4718248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F5F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Google Gemini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356350" y="5007769"/>
            <a:ext cx="222377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modelos en cadena: si uno agota su cuota, sigue el siguiente sin repetir tareas.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855075" y="4217293"/>
            <a:ext cx="2520950" cy="1824732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7" name="Image 6" descr="Verified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36050" y="4405809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340850" y="4398268"/>
            <a:ext cx="12196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9036050" y="4718248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F5F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Validación automática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9036050" y="5007769"/>
            <a:ext cx="22237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Revisan cada informe: completo, diagramas cerrados y fuentes citadas. Si falla, se reescribe.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63600"/>
            <a:ext cx="1749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448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 · RESULTADO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719957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gripper de vacío, de punta a punta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2762250"/>
            <a:ext cx="3549650" cy="1563092"/>
          </a:xfrm>
          <a:prstGeom prst="roundRect">
            <a:avLst>
              <a:gd name="adj" fmla="val 4672"/>
            </a:avLst>
          </a:prstGeom>
          <a:solidFill>
            <a:srgbClr val="FBFAF6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96950" y="2943225"/>
            <a:ext cx="328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448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 QUE ENTRA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3220045"/>
            <a:ext cx="3283331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 de ventosas para un robot de 6 ejes que mueve láminas de acero de hasta 8 kg, con 24 V DC, aire a 6 bar y un tope de 4.500 USD.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4455517"/>
            <a:ext cx="3556000" cy="1589683"/>
          </a:xfrm>
          <a:prstGeom prst="roundRect">
            <a:avLst>
              <a:gd name="adj" fmla="val 4793"/>
            </a:avLst>
          </a:prstGeom>
          <a:solidFill>
            <a:srgbClr val="111A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90600" y="463331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 QUE SALE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8644" y="4910138"/>
            <a:ext cx="3190748" cy="98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informes + dossier en Markdown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con productos reales y su URL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Mermaid en la interfaz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de cada informe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2771775"/>
          <a:ext cx="6692900" cy="2155626"/>
        </p:xfrm>
        <a:graphic>
          <a:graphicData uri="http://schemas.openxmlformats.org/drawingml/2006/table">
            <a:tbl>
              <a:tblPr/>
              <a:tblGrid>
                <a:gridCol w="2141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Propuesta de los agentes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Masa del gripper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6 kg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3,22 kg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de materiales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4.500 USD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1.955 USD (−56 %)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Sujeción segura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 ≥ 2 a 5 m/s²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ventosas de fuelle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Corte de energía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pieza no cae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Válvulas biestables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 presente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Vacuóstatos SMC ZSE30AF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673600" y="5079802"/>
            <a:ext cx="6705600" cy="784820"/>
          </a:xfrm>
          <a:prstGeom prst="roundRect">
            <a:avLst>
              <a:gd name="adj" fmla="val 9709"/>
            </a:avLst>
          </a:pr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CheckCircle"/>
          <p:cNvPicPr>
            <a:picLocks noChangeAspect="1"/>
          </p:cNvPicPr>
          <p:nvPr/>
        </p:nvPicPr>
        <p:blipFill>
          <a:blip r:embed="rId3"/>
          <a:srcRect l="-418" r="-418"/>
          <a:stretch/>
        </p:blipFill>
        <p:spPr>
          <a:xfrm>
            <a:off x="4851400" y="5319812"/>
            <a:ext cx="179288" cy="304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688" y="5232202"/>
            <a:ext cx="622502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Dictamen del agente Cliente: aprobado con observaciones</a:t>
            </a:r>
            <a:r>
              <a:rPr lang="en-US" sz="1400" dirty="0">
                <a:solidFill>
                  <a:srgbClr val="11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2 solicitudes de cambio (tornillos imperdibles, manómetro visual).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63600"/>
            <a:ext cx="18748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 · EVALUACIÓN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512193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corrida queda auditada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343745"/>
            <a:ext cx="2527300" cy="1655961"/>
          </a:xfrm>
          <a:prstGeom prst="roundRect">
            <a:avLst>
              <a:gd name="adj" fmla="val 4602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90600" y="2521545"/>
            <a:ext cx="22368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86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27/28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90600" y="3181945"/>
            <a:ext cx="223685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aprobados por el guardrail en 4 corridas completas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2500" y="2343745"/>
            <a:ext cx="2527300" cy="1655961"/>
          </a:xfrm>
          <a:prstGeom prst="roundRect">
            <a:avLst>
              <a:gd name="adj" fmla="val 4602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70300" y="2521545"/>
            <a:ext cx="22368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86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70300" y="3181945"/>
            <a:ext cx="223685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reintentos automáticos activados; 2 se corrigieron solos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343745"/>
            <a:ext cx="2527300" cy="1655961"/>
          </a:xfrm>
          <a:prstGeom prst="roundRect">
            <a:avLst>
              <a:gd name="adj" fmla="val 4602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350000" y="2521545"/>
            <a:ext cx="22368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86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50000" y="3181945"/>
            <a:ext cx="22368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corridas archivadas para comparar versiones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1900" y="2343745"/>
            <a:ext cx="2527300" cy="1655961"/>
          </a:xfrm>
          <a:prstGeom prst="roundRect">
            <a:avLst>
              <a:gd name="adj" fmla="val 4602"/>
            </a:avLst>
          </a:prstGeom>
          <a:solidFill>
            <a:srgbClr val="1C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029700" y="2521545"/>
            <a:ext cx="22368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86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29700" y="3181945"/>
            <a:ext cx="22368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web por tarea, cada una registrada con su URL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150" y="4390529"/>
            <a:ext cx="5194300" cy="1648321"/>
          </a:xfrm>
          <a:prstGeom prst="roundRect">
            <a:avLst>
              <a:gd name="adj" fmla="val 4238"/>
            </a:avLst>
          </a:prstGeom>
          <a:noFill/>
          <a:ln w="12700">
            <a:solidFill>
              <a:srgbClr val="2B39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03300" y="4574679"/>
            <a:ext cx="49707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medimos en cada informe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4806" y="4894659"/>
            <a:ext cx="4851654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494" indent="-1424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 y con diagramas cerrados</a:t>
            </a:r>
            <a:endParaRPr lang="en-US" sz="1200" dirty="0"/>
          </a:p>
          <a:p>
            <a:pPr marL="142494" indent="-1424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real de la búsqueda web (MCP)</a:t>
            </a:r>
            <a:endParaRPr lang="en-US" sz="1200" dirty="0"/>
          </a:p>
          <a:p>
            <a:pPr marL="142494" indent="-1424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de la búsqueda citadas en el BOM</a:t>
            </a:r>
            <a:endParaRPr lang="en-US" sz="1200" dirty="0"/>
          </a:p>
          <a:p>
            <a:pPr marL="142494" indent="-1424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y costo frente a la meta (agente Cliente)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8550" y="4390529"/>
            <a:ext cx="5194300" cy="1648321"/>
          </a:xfrm>
          <a:prstGeom prst="roundRect">
            <a:avLst>
              <a:gd name="adj" fmla="val 4238"/>
            </a:avLst>
          </a:prstGeom>
          <a:noFill/>
          <a:ln w="12700">
            <a:solidFill>
              <a:srgbClr val="2B39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362700" y="4574679"/>
            <a:ext cx="49707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aprendimos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2700" y="4894659"/>
            <a:ext cx="497078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1 de 4 corridas, Electrónica no usó la búsqueda ni tras 2 reintentos: el guardrail lo detectó y lo dejó registrado.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2700" y="5412780"/>
            <a:ext cx="497078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Algunas búsquedas devuelven 0 resultados; el tope evita que el agente se quede buscando sin escribir.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448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 · BALANCE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6483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hicimos frente a la rúbrica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06427"/>
          <a:ext cx="10553700" cy="2660648"/>
        </p:xfrm>
        <a:graphic>
          <a:graphicData uri="http://schemas.openxmlformats.org/drawingml/2006/table">
            <a:tbl>
              <a:tblPr/>
              <a:tblGrid>
                <a:gridCol w="253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8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entregamos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Originalidad e innovación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Junta de diseño VDI 2206 con 6 agentes; el Cliente pide ECR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 técnica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+ RAG agentic + embeddings + MCP + guardrails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de tecnologías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CrewAI Flows, Gemini, ChromaDB, Tavily MCP, Streamlit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 web completa: formulario, adjuntos, log e informes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Evaluación y validación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Guardrails y registros del MCP en 4 corridas auditadas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Presentación final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 deck + demo en vivo con la interfaz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 escrito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README técnico: arquitectura, configuración y uso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5F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 3"/>
          <p:cNvSpPr txBox="1"/>
          <p:nvPr/>
        </p:nvSpPr>
        <p:spPr>
          <a:xfrm>
            <a:off x="812901" y="863193"/>
            <a:ext cx="1056314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07 · FUTURO</a:t>
            </a:r>
            <a:endParaRPr lang="es-CO" sz="1200" dirty="0"/>
          </a:p>
        </p:txBody>
      </p:sp>
      <p:sp>
        <p:nvSpPr>
          <p:cNvPr id="4" name="Texto 4"/>
          <p:cNvSpPr txBox="1"/>
          <p:nvPr/>
        </p:nvSpPr>
        <p:spPr>
          <a:xfrm>
            <a:off x="812901" y="1481328"/>
            <a:ext cx="105631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3200" b="1" dirty="0">
                <a:solidFill>
                  <a:srgbClr val="F3F1EB"/>
                </a:solidFill>
                <a:latin typeface="Arial"/>
                <a:cs typeface="Arial"/>
              </a:rPr>
              <a:t>Siguiente paso: inferencia local en Apolo</a:t>
            </a:r>
            <a:endParaRPr lang="es-CO" sz="3200" dirty="0"/>
          </a:p>
        </p:txBody>
      </p:sp>
      <p:sp>
        <p:nvSpPr>
          <p:cNvPr id="5" name="Texto 5"/>
          <p:cNvSpPr txBox="1"/>
          <p:nvPr/>
        </p:nvSpPr>
        <p:spPr>
          <a:xfrm>
            <a:off x="812901" y="2194560"/>
            <a:ext cx="105631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600" dirty="0">
                <a:solidFill>
                  <a:srgbClr val="B9C3D6"/>
                </a:solidFill>
                <a:latin typeface="Arial"/>
                <a:cs typeface="Arial"/>
              </a:rPr>
              <a:t>Ya corremos el crew completo con un modelo abierto en el clúster Apolo de EAFIT, sin depender de una API externa.</a:t>
            </a:r>
            <a:endParaRPr lang="es-CO" sz="1600" dirty="0"/>
          </a:p>
        </p:txBody>
      </p:sp>
      <p:sp>
        <p:nvSpPr>
          <p:cNvPr id="6" name="Forma 6"/>
          <p:cNvSpPr/>
          <p:nvPr/>
        </p:nvSpPr>
        <p:spPr>
          <a:xfrm>
            <a:off x="812901" y="2926080"/>
            <a:ext cx="3368649" cy="1965960"/>
          </a:xfrm>
          <a:prstGeom prst="roundRect">
            <a:avLst>
              <a:gd name="adj" fmla="val 6000"/>
            </a:avLst>
          </a:prstGeom>
          <a:solidFill>
            <a:srgbClr val="1C2840"/>
          </a:solidFill>
          <a:ln w="9525">
            <a:solidFill>
              <a:srgbClr val="2B3956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" name="Texto 7"/>
          <p:cNvSpPr txBox="1"/>
          <p:nvPr/>
        </p:nvSpPr>
        <p:spPr>
          <a:xfrm>
            <a:off x="1041501" y="3127248"/>
            <a:ext cx="291144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B9C3D6"/>
                </a:solidFill>
                <a:latin typeface="Courier New"/>
                <a:cs typeface="Courier New"/>
              </a:rPr>
              <a:t>HOY · API DE GEMINI</a:t>
            </a:r>
            <a:endParaRPr lang="es-CO" sz="1200" dirty="0"/>
          </a:p>
        </p:txBody>
      </p:sp>
      <p:sp>
        <p:nvSpPr>
          <p:cNvPr id="8" name="Texto 8"/>
          <p:cNvSpPr txBox="1"/>
          <p:nvPr/>
        </p:nvSpPr>
        <p:spPr>
          <a:xfrm>
            <a:off x="1041501" y="3401568"/>
            <a:ext cx="291144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3F1EB"/>
                </a:solidFill>
                <a:latin typeface="Arial"/>
                <a:cs typeface="Arial"/>
              </a:rPr>
              <a:t>Nube con cuota</a:t>
            </a:r>
            <a:endParaRPr lang="es-CO" sz="1800" dirty="0"/>
          </a:p>
        </p:txBody>
      </p:sp>
      <p:sp>
        <p:nvSpPr>
          <p:cNvPr id="9" name="Texto 9"/>
          <p:cNvSpPr txBox="1"/>
          <p:nvPr/>
        </p:nvSpPr>
        <p:spPr>
          <a:xfrm>
            <a:off x="1041501" y="3840480"/>
            <a:ext cx="2911449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400"/>
              </a:spcAft>
              <a:buClr>
                <a:srgbClr val="E8692A"/>
              </a:buClr>
              <a:buFont typeface="Arial"/>
              <a:buChar char="•"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~20 solicitudes por día y por modelo</a:t>
            </a:r>
            <a:endParaRPr lang="es-CO" sz="1300" dirty="0"/>
          </a:p>
          <a:p>
            <a:pPr marL="228600" indent="-228600" algn="l">
              <a:spcAft>
                <a:spcPts val="400"/>
              </a:spcAft>
              <a:buClr>
                <a:srgbClr val="E8692A"/>
              </a:buClr>
              <a:buFont typeface="Arial"/>
              <a:buChar char="•"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El contexto del cliente sale de EAFIT</a:t>
            </a:r>
            <a:endParaRPr lang="es-CO" sz="1300" dirty="0"/>
          </a:p>
          <a:p>
            <a:pPr marL="228600" indent="-228600" algn="l">
              <a:spcAft>
                <a:spcPts val="400"/>
              </a:spcAft>
              <a:buClr>
                <a:srgbClr val="E8692A"/>
              </a:buClr>
              <a:buFont typeface="Arial"/>
              <a:buChar char="•"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Caídas por saturación y por cuota</a:t>
            </a:r>
            <a:endParaRPr lang="es-CO" sz="1300" dirty="0"/>
          </a:p>
        </p:txBody>
      </p:sp>
      <p:sp>
        <p:nvSpPr>
          <p:cNvPr id="10" name="Forma 10"/>
          <p:cNvSpPr/>
          <p:nvPr/>
        </p:nvSpPr>
        <p:spPr>
          <a:xfrm>
            <a:off x="4410151" y="2926080"/>
            <a:ext cx="3368649" cy="1965960"/>
          </a:xfrm>
          <a:prstGeom prst="roundRect">
            <a:avLst>
              <a:gd name="adj" fmla="val 6000"/>
            </a:avLst>
          </a:prstGeom>
          <a:solidFill>
            <a:srgbClr val="1C2840"/>
          </a:solidFill>
          <a:ln w="19050">
            <a:solidFill>
              <a:srgbClr val="E8692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o 11"/>
          <p:cNvSpPr txBox="1"/>
          <p:nvPr/>
        </p:nvSpPr>
        <p:spPr>
          <a:xfrm>
            <a:off x="4638751" y="3127248"/>
            <a:ext cx="291144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APOLO · OLLAMA</a:t>
            </a:r>
            <a:endParaRPr lang="es-CO" sz="1200" dirty="0"/>
          </a:p>
        </p:txBody>
      </p:sp>
      <p:sp>
        <p:nvSpPr>
          <p:cNvPr id="12" name="Texto 12"/>
          <p:cNvSpPr txBox="1"/>
          <p:nvPr/>
        </p:nvSpPr>
        <p:spPr>
          <a:xfrm>
            <a:off x="4638751" y="3401568"/>
            <a:ext cx="291144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3F1EB"/>
                </a:solidFill>
                <a:latin typeface="Arial"/>
                <a:cs typeface="Arial"/>
              </a:rPr>
              <a:t>Modelo abierto en casa</a:t>
            </a:r>
            <a:endParaRPr lang="es-CO" sz="1800" dirty="0"/>
          </a:p>
        </p:txBody>
      </p:sp>
      <p:sp>
        <p:nvSpPr>
          <p:cNvPr id="13" name="Texto 13"/>
          <p:cNvSpPr txBox="1"/>
          <p:nvPr/>
        </p:nvSpPr>
        <p:spPr>
          <a:xfrm>
            <a:off x="4638751" y="3840480"/>
            <a:ext cx="2911449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400"/>
              </a:spcAft>
              <a:buClr>
                <a:srgbClr val="E8692A"/>
              </a:buClr>
              <a:buFont typeface="Arial"/>
              <a:buChar char="•"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Qwen 3.8 de 27B (q4_K_M)</a:t>
            </a:r>
            <a:endParaRPr lang="es-CO" sz="1300" dirty="0"/>
          </a:p>
          <a:p>
            <a:pPr marL="228600" indent="-228600" algn="l">
              <a:spcAft>
                <a:spcPts val="400"/>
              </a:spcAft>
              <a:buClr>
                <a:srgbClr val="E8692A"/>
              </a:buClr>
              <a:buFont typeface="Arial"/>
              <a:buChar char="•"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Sin cuota ni costo por solicitud</a:t>
            </a:r>
            <a:endParaRPr lang="es-CO" sz="1300" dirty="0"/>
          </a:p>
          <a:p>
            <a:pPr marL="228600" indent="-228600" algn="l">
              <a:spcAft>
                <a:spcPts val="400"/>
              </a:spcAft>
              <a:buClr>
                <a:srgbClr val="E8692A"/>
              </a:buClr>
              <a:buFont typeface="Arial"/>
              <a:buChar char="•"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Los datos se quedan en EAFIT</a:t>
            </a:r>
            <a:endParaRPr lang="es-CO" sz="1300" dirty="0"/>
          </a:p>
        </p:txBody>
      </p:sp>
      <p:sp>
        <p:nvSpPr>
          <p:cNvPr id="14" name="Forma 14"/>
          <p:cNvSpPr/>
          <p:nvPr/>
        </p:nvSpPr>
        <p:spPr>
          <a:xfrm>
            <a:off x="8007400" y="2926080"/>
            <a:ext cx="3368649" cy="1965960"/>
          </a:xfrm>
          <a:prstGeom prst="roundRect">
            <a:avLst>
              <a:gd name="adj" fmla="val 6000"/>
            </a:avLst>
          </a:prstGeom>
          <a:solidFill>
            <a:srgbClr val="1C2840"/>
          </a:solidFill>
          <a:ln w="9525">
            <a:solidFill>
              <a:srgbClr val="2B3956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o 15"/>
          <p:cNvSpPr txBox="1"/>
          <p:nvPr/>
        </p:nvSpPr>
        <p:spPr>
          <a:xfrm>
            <a:off x="8236000" y="3108960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3600" b="1" dirty="0">
                <a:solidFill>
                  <a:srgbClr val="E8692A"/>
                </a:solidFill>
                <a:latin typeface="Arial"/>
                <a:cs typeface="Arial"/>
              </a:rPr>
              <a:t>57</a:t>
            </a:r>
            <a:endParaRPr lang="es-CO" sz="3600" dirty="0"/>
          </a:p>
        </p:txBody>
      </p:sp>
      <p:sp>
        <p:nvSpPr>
          <p:cNvPr id="16" name="Texto 16"/>
          <p:cNvSpPr txBox="1"/>
          <p:nvPr/>
        </p:nvSpPr>
        <p:spPr>
          <a:xfrm>
            <a:off x="9607600" y="3200400"/>
            <a:ext cx="1539849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tokens por segundo generando en Apolo</a:t>
            </a:r>
            <a:endParaRPr lang="es-CO" sz="1300" dirty="0"/>
          </a:p>
        </p:txBody>
      </p:sp>
      <p:sp>
        <p:nvSpPr>
          <p:cNvPr id="17" name="Texto 17"/>
          <p:cNvSpPr txBox="1"/>
          <p:nvPr/>
        </p:nvSpPr>
        <p:spPr>
          <a:xfrm>
            <a:off x="8236000" y="4023360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3600" b="1" dirty="0">
                <a:solidFill>
                  <a:srgbClr val="E8692A"/>
                </a:solidFill>
                <a:latin typeface="Arial"/>
                <a:cs typeface="Arial"/>
              </a:rPr>
              <a:t>131k</a:t>
            </a:r>
            <a:endParaRPr lang="es-CO" sz="3600" dirty="0"/>
          </a:p>
        </p:txBody>
      </p:sp>
      <p:sp>
        <p:nvSpPr>
          <p:cNvPr id="18" name="Texto 18"/>
          <p:cNvSpPr txBox="1"/>
          <p:nvPr/>
        </p:nvSpPr>
        <p:spPr>
          <a:xfrm>
            <a:off x="9607600" y="4114800"/>
            <a:ext cx="1539849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dirty="0">
                <a:solidFill>
                  <a:srgbClr val="B9C3D6"/>
                </a:solidFill>
                <a:latin typeface="Arial"/>
                <a:cs typeface="Arial"/>
              </a:rPr>
              <a:t>tokens de contexto por solicitud</a:t>
            </a:r>
            <a:endParaRPr lang="es-CO" sz="1300" dirty="0"/>
          </a:p>
        </p:txBody>
      </p:sp>
      <p:sp>
        <p:nvSpPr>
          <p:cNvPr id="19" name="Forma 19"/>
          <p:cNvSpPr/>
          <p:nvPr/>
        </p:nvSpPr>
        <p:spPr>
          <a:xfrm>
            <a:off x="812901" y="5212080"/>
            <a:ext cx="3368649" cy="914400"/>
          </a:xfrm>
          <a:prstGeom prst="roundRect">
            <a:avLst>
              <a:gd name="adj" fmla="val 6000"/>
            </a:avLst>
          </a:prstGeom>
          <a:solidFill>
            <a:srgbClr val="18233A"/>
          </a:solidFill>
          <a:ln w="9525">
            <a:solidFill>
              <a:srgbClr val="2B3956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o 20"/>
          <p:cNvSpPr txBox="1"/>
          <p:nvPr/>
        </p:nvSpPr>
        <p:spPr>
          <a:xfrm>
            <a:off x="1041501" y="5349240"/>
            <a:ext cx="291144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01 · YA FUNCIONA</a:t>
            </a:r>
            <a:endParaRPr lang="es-CO" sz="1200" dirty="0"/>
          </a:p>
        </p:txBody>
      </p:sp>
      <p:sp>
        <p:nvSpPr>
          <p:cNvPr id="21" name="Texto 21"/>
          <p:cNvSpPr txBox="1"/>
          <p:nvPr/>
        </p:nvSpPr>
        <p:spPr>
          <a:xfrm>
            <a:off x="1041501" y="5605272"/>
            <a:ext cx="291144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dirty="0">
                <a:solidFill>
                  <a:srgbClr val="F3F1EB"/>
                </a:solidFill>
                <a:latin typeface="Arial"/>
                <a:cs typeface="Arial"/>
              </a:rPr>
              <a:t>El crew completo corre en Apolo con Ollama (rama main)</a:t>
            </a:r>
            <a:endParaRPr lang="es-CO" sz="1300" dirty="0"/>
          </a:p>
        </p:txBody>
      </p:sp>
      <p:cxnSp>
        <p:nvCxnSpPr>
          <p:cNvPr id="22" name="Flecha 22"/>
          <p:cNvCxnSpPr/>
          <p:nvPr/>
        </p:nvCxnSpPr>
        <p:spPr>
          <a:xfrm>
            <a:off x="4208983" y="5669280"/>
            <a:ext cx="173735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23" name="Forma 23"/>
          <p:cNvSpPr/>
          <p:nvPr/>
        </p:nvSpPr>
        <p:spPr>
          <a:xfrm>
            <a:off x="4410151" y="5212080"/>
            <a:ext cx="3368649" cy="914400"/>
          </a:xfrm>
          <a:prstGeom prst="roundRect">
            <a:avLst>
              <a:gd name="adj" fmla="val 6000"/>
            </a:avLst>
          </a:prstGeom>
          <a:solidFill>
            <a:srgbClr val="18233A"/>
          </a:solidFill>
          <a:ln w="9525">
            <a:solidFill>
              <a:srgbClr val="2B3956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o 24"/>
          <p:cNvSpPr txBox="1"/>
          <p:nvPr/>
        </p:nvSpPr>
        <p:spPr>
          <a:xfrm>
            <a:off x="4638751" y="5349240"/>
            <a:ext cx="291144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02 · SIGUIENTE</a:t>
            </a:r>
            <a:endParaRPr lang="es-CO" sz="1200" dirty="0"/>
          </a:p>
        </p:txBody>
      </p:sp>
      <p:sp>
        <p:nvSpPr>
          <p:cNvPr id="25" name="Texto 25"/>
          <p:cNvSpPr txBox="1"/>
          <p:nvPr/>
        </p:nvSpPr>
        <p:spPr>
          <a:xfrm>
            <a:off x="4638751" y="5605272"/>
            <a:ext cx="291144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dirty="0">
                <a:solidFill>
                  <a:srgbClr val="F3F1EB"/>
                </a:solidFill>
                <a:latin typeface="Arial"/>
                <a:cs typeface="Arial"/>
              </a:rPr>
              <a:t>Llevar RAG, MCP e interfaz web al modelo local</a:t>
            </a:r>
            <a:endParaRPr lang="es-CO" sz="1300" dirty="0"/>
          </a:p>
        </p:txBody>
      </p:sp>
      <p:cxnSp>
        <p:nvCxnSpPr>
          <p:cNvPr id="26" name="Flecha 26"/>
          <p:cNvCxnSpPr/>
          <p:nvPr/>
        </p:nvCxnSpPr>
        <p:spPr>
          <a:xfrm>
            <a:off x="7806232" y="5669280"/>
            <a:ext cx="173736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27" name="Forma 27"/>
          <p:cNvSpPr/>
          <p:nvPr/>
        </p:nvSpPr>
        <p:spPr>
          <a:xfrm>
            <a:off x="8007400" y="5212080"/>
            <a:ext cx="3368649" cy="914400"/>
          </a:xfrm>
          <a:prstGeom prst="roundRect">
            <a:avLst>
              <a:gd name="adj" fmla="val 6000"/>
            </a:avLst>
          </a:prstGeom>
          <a:solidFill>
            <a:srgbClr val="18233A"/>
          </a:solidFill>
          <a:ln w="9525">
            <a:solidFill>
              <a:srgbClr val="2B3956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o 28"/>
          <p:cNvSpPr txBox="1"/>
          <p:nvPr/>
        </p:nvSpPr>
        <p:spPr>
          <a:xfrm>
            <a:off x="8236000" y="5349240"/>
            <a:ext cx="291144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03 · DESPUÉS</a:t>
            </a:r>
            <a:endParaRPr lang="es-CO" sz="1200" dirty="0"/>
          </a:p>
        </p:txBody>
      </p:sp>
      <p:sp>
        <p:nvSpPr>
          <p:cNvPr id="29" name="Texto 29"/>
          <p:cNvSpPr txBox="1"/>
          <p:nvPr/>
        </p:nvSpPr>
        <p:spPr>
          <a:xfrm>
            <a:off x="8236000" y="5605272"/>
            <a:ext cx="291144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dirty="0">
                <a:solidFill>
                  <a:srgbClr val="F3F1EB"/>
                </a:solidFill>
                <a:latin typeface="Arial"/>
                <a:cs typeface="Arial"/>
              </a:rPr>
              <a:t>Afinar un modelo abierto con los dossiers aprobados y las ECR</a:t>
            </a:r>
            <a:endParaRPr lang="es-CO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 3"/>
          <p:cNvSpPr txBox="1"/>
          <p:nvPr/>
        </p:nvSpPr>
        <p:spPr>
          <a:xfrm>
            <a:off x="812901" y="863193"/>
            <a:ext cx="1056314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B4481A"/>
                </a:solidFill>
                <a:latin typeface="Courier New"/>
                <a:cs typeface="Courier New"/>
              </a:rPr>
              <a:t>ANEXO A · RAG</a:t>
            </a:r>
            <a:endParaRPr lang="es-CO" sz="1200" dirty="0"/>
          </a:p>
        </p:txBody>
      </p:sp>
      <p:sp>
        <p:nvSpPr>
          <p:cNvPr id="4" name="Texto 4"/>
          <p:cNvSpPr txBox="1"/>
          <p:nvPr/>
        </p:nvSpPr>
        <p:spPr>
          <a:xfrm>
            <a:off x="812901" y="1481328"/>
            <a:ext cx="105631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3200" b="1" dirty="0">
                <a:solidFill>
                  <a:srgbClr val="172033"/>
                </a:solidFill>
                <a:latin typeface="Arial"/>
                <a:cs typeface="Arial"/>
              </a:rPr>
              <a:t>Pipeline de RAG: los agentes consultan los manuales</a:t>
            </a:r>
            <a:endParaRPr lang="es-CO" sz="3200" dirty="0"/>
          </a:p>
        </p:txBody>
      </p:sp>
      <p:sp>
        <p:nvSpPr>
          <p:cNvPr id="5" name="Texto 5"/>
          <p:cNvSpPr txBox="1"/>
          <p:nvPr/>
        </p:nvSpPr>
        <p:spPr>
          <a:xfrm>
            <a:off x="812901" y="2331720"/>
            <a:ext cx="1056314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5A6273"/>
                </a:solidFill>
                <a:latin typeface="Courier New"/>
                <a:cs typeface="Courier New"/>
              </a:rPr>
              <a:t>INDEXACIÓN · SOLO CUANDO CAMBIAN LOS DOCUMENTOS</a:t>
            </a:r>
            <a:endParaRPr lang="es-CO" sz="1200" dirty="0"/>
          </a:p>
        </p:txBody>
      </p:sp>
      <p:sp>
        <p:nvSpPr>
          <p:cNvPr id="6" name="Forma 6"/>
          <p:cNvSpPr/>
          <p:nvPr/>
        </p:nvSpPr>
        <p:spPr>
          <a:xfrm>
            <a:off x="81290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o 7"/>
          <p:cNvSpPr txBox="1"/>
          <p:nvPr/>
        </p:nvSpPr>
        <p:spPr>
          <a:xfrm>
            <a:off x="95920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knowledge/</a:t>
            </a:r>
            <a:endParaRPr lang="es-CO" sz="1200" dirty="0"/>
          </a:p>
        </p:txBody>
      </p:sp>
      <p:sp>
        <p:nvSpPr>
          <p:cNvPr id="8" name="Texto 8"/>
          <p:cNvSpPr txBox="1"/>
          <p:nvPr/>
        </p:nvSpPr>
        <p:spPr>
          <a:xfrm>
            <a:off x="95920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6 manuales en PDF</a:t>
            </a:r>
            <a:endParaRPr lang="es-CO" sz="1300" dirty="0"/>
          </a:p>
        </p:txBody>
      </p:sp>
      <p:cxnSp>
        <p:nvCxnSpPr>
          <p:cNvPr id="9" name="Flecha 9"/>
          <p:cNvCxnSpPr/>
          <p:nvPr/>
        </p:nvCxnSpPr>
        <p:spPr>
          <a:xfrm>
            <a:off x="2641701" y="3108960"/>
            <a:ext cx="320040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10" name="Forma 10"/>
          <p:cNvSpPr/>
          <p:nvPr/>
        </p:nvSpPr>
        <p:spPr>
          <a:xfrm>
            <a:off x="300746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o 11"/>
          <p:cNvSpPr txBox="1"/>
          <p:nvPr/>
        </p:nvSpPr>
        <p:spPr>
          <a:xfrm>
            <a:off x="315376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PyMuPDF</a:t>
            </a:r>
            <a:endParaRPr lang="es-CO" sz="1200" dirty="0"/>
          </a:p>
        </p:txBody>
      </p:sp>
      <p:sp>
        <p:nvSpPr>
          <p:cNvPr id="12" name="Texto 12"/>
          <p:cNvSpPr txBox="1"/>
          <p:nvPr/>
        </p:nvSpPr>
        <p:spPr>
          <a:xfrm>
            <a:off x="315376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Extrae el texto</a:t>
            </a:r>
            <a:endParaRPr lang="es-CO" sz="1300" dirty="0"/>
          </a:p>
        </p:txBody>
      </p:sp>
      <p:cxnSp>
        <p:nvCxnSpPr>
          <p:cNvPr id="13" name="Flecha 13"/>
          <p:cNvCxnSpPr/>
          <p:nvPr/>
        </p:nvCxnSpPr>
        <p:spPr>
          <a:xfrm>
            <a:off x="4836261" y="3108960"/>
            <a:ext cx="320040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14" name="Forma 14"/>
          <p:cNvSpPr/>
          <p:nvPr/>
        </p:nvSpPr>
        <p:spPr>
          <a:xfrm>
            <a:off x="520202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o 15"/>
          <p:cNvSpPr txBox="1"/>
          <p:nvPr/>
        </p:nvSpPr>
        <p:spPr>
          <a:xfrm>
            <a:off x="534832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TextChunker</a:t>
            </a:r>
            <a:endParaRPr lang="es-CO" sz="1200" dirty="0"/>
          </a:p>
        </p:txBody>
      </p:sp>
      <p:sp>
        <p:nvSpPr>
          <p:cNvPr id="16" name="Texto 16"/>
          <p:cNvSpPr txBox="1"/>
          <p:nvPr/>
        </p:nvSpPr>
        <p:spPr>
          <a:xfrm>
            <a:off x="534832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1 500 caracteres, solape 150</a:t>
            </a:r>
            <a:endParaRPr lang="es-CO" sz="1300" dirty="0"/>
          </a:p>
        </p:txBody>
      </p:sp>
      <p:cxnSp>
        <p:nvCxnSpPr>
          <p:cNvPr id="17" name="Flecha 17"/>
          <p:cNvCxnSpPr/>
          <p:nvPr/>
        </p:nvCxnSpPr>
        <p:spPr>
          <a:xfrm>
            <a:off x="7030821" y="3108960"/>
            <a:ext cx="320039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18" name="Forma 18"/>
          <p:cNvSpPr/>
          <p:nvPr/>
        </p:nvSpPr>
        <p:spPr>
          <a:xfrm>
            <a:off x="739658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o 19"/>
          <p:cNvSpPr txBox="1"/>
          <p:nvPr/>
        </p:nvSpPr>
        <p:spPr>
          <a:xfrm>
            <a:off x="754288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ONNX local</a:t>
            </a:r>
            <a:endParaRPr lang="es-CO" sz="1200" dirty="0"/>
          </a:p>
        </p:txBody>
      </p:sp>
      <p:sp>
        <p:nvSpPr>
          <p:cNvPr id="20" name="Texto 20"/>
          <p:cNvSpPr txBox="1"/>
          <p:nvPr/>
        </p:nvSpPr>
        <p:spPr>
          <a:xfrm>
            <a:off x="754288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all-MiniLM-L6-v2</a:t>
            </a:r>
            <a:endParaRPr lang="es-CO" sz="1300" dirty="0"/>
          </a:p>
        </p:txBody>
      </p:sp>
      <p:cxnSp>
        <p:nvCxnSpPr>
          <p:cNvPr id="21" name="Flecha 21"/>
          <p:cNvCxnSpPr/>
          <p:nvPr/>
        </p:nvCxnSpPr>
        <p:spPr>
          <a:xfrm>
            <a:off x="9225381" y="3108960"/>
            <a:ext cx="320039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22" name="Forma 22"/>
          <p:cNvSpPr/>
          <p:nvPr/>
        </p:nvSpPr>
        <p:spPr>
          <a:xfrm>
            <a:off x="959114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o 23"/>
          <p:cNvSpPr txBox="1"/>
          <p:nvPr/>
        </p:nvSpPr>
        <p:spPr>
          <a:xfrm>
            <a:off x="973744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ChromaDB</a:t>
            </a:r>
            <a:endParaRPr lang="es-CO" sz="1200" dirty="0"/>
          </a:p>
        </p:txBody>
      </p:sp>
      <p:sp>
        <p:nvSpPr>
          <p:cNvPr id="24" name="Texto 24"/>
          <p:cNvSpPr txBox="1"/>
          <p:nvPr/>
        </p:nvSpPr>
        <p:spPr>
          <a:xfrm>
            <a:off x="973744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Índice en .rag_db/</a:t>
            </a:r>
            <a:endParaRPr lang="es-CO" sz="1300" dirty="0"/>
          </a:p>
        </p:txBody>
      </p:sp>
      <p:sp>
        <p:nvSpPr>
          <p:cNvPr id="25" name="Texto 25"/>
          <p:cNvSpPr txBox="1"/>
          <p:nvPr/>
        </p:nvSpPr>
        <p:spPr>
          <a:xfrm>
            <a:off x="812901" y="3794760"/>
            <a:ext cx="1056314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5A6273"/>
                </a:solidFill>
                <a:latin typeface="Courier New"/>
                <a:cs typeface="Courier New"/>
              </a:rPr>
              <a:t>CONSULTA · CUANDO EL AGENTE LO DECIDE</a:t>
            </a:r>
            <a:endParaRPr lang="es-CO" sz="1200" dirty="0"/>
          </a:p>
        </p:txBody>
      </p:sp>
      <p:sp>
        <p:nvSpPr>
          <p:cNvPr id="26" name="Forma 26"/>
          <p:cNvSpPr/>
          <p:nvPr/>
        </p:nvSpPr>
        <p:spPr>
          <a:xfrm>
            <a:off x="812901" y="411480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o 27"/>
          <p:cNvSpPr txBox="1"/>
          <p:nvPr/>
        </p:nvSpPr>
        <p:spPr>
          <a:xfrm>
            <a:off x="959205" y="42428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Agente</a:t>
            </a:r>
            <a:endParaRPr lang="es-CO" sz="1200" dirty="0"/>
          </a:p>
        </p:txBody>
      </p:sp>
      <p:sp>
        <p:nvSpPr>
          <p:cNvPr id="28" name="Texto 28"/>
          <p:cNvSpPr txBox="1"/>
          <p:nvPr/>
        </p:nvSpPr>
        <p:spPr>
          <a:xfrm>
            <a:off x="959205" y="44988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172033"/>
                </a:solidFill>
                <a:latin typeface="Arial"/>
                <a:cs typeface="Arial"/>
              </a:rPr>
              <a:t>Uno de los 4 que tienen RAG</a:t>
            </a:r>
            <a:endParaRPr lang="es-CO" sz="1300" dirty="0"/>
          </a:p>
        </p:txBody>
      </p:sp>
      <p:sp>
        <p:nvSpPr>
          <p:cNvPr id="29" name="Forma 29"/>
          <p:cNvSpPr/>
          <p:nvPr/>
        </p:nvSpPr>
        <p:spPr>
          <a:xfrm>
            <a:off x="3007461" y="411480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o 30"/>
          <p:cNvSpPr txBox="1"/>
          <p:nvPr/>
        </p:nvSpPr>
        <p:spPr>
          <a:xfrm>
            <a:off x="3153765" y="42428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RagTool</a:t>
            </a:r>
            <a:endParaRPr lang="es-CO" sz="1200" dirty="0"/>
          </a:p>
        </p:txBody>
      </p:sp>
      <p:sp>
        <p:nvSpPr>
          <p:cNvPr id="31" name="Texto 31"/>
          <p:cNvSpPr txBox="1"/>
          <p:nvPr/>
        </p:nvSpPr>
        <p:spPr>
          <a:xfrm>
            <a:off x="3153765" y="44988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172033"/>
                </a:solidFill>
                <a:latin typeface="Arial"/>
                <a:cs typeface="Arial"/>
              </a:rPr>
              <a:t>Consulta escrita en inglés</a:t>
            </a:r>
            <a:endParaRPr lang="es-CO" sz="1300" dirty="0"/>
          </a:p>
        </p:txBody>
      </p:sp>
      <p:sp>
        <p:nvSpPr>
          <p:cNvPr id="32" name="Forma 32"/>
          <p:cNvSpPr/>
          <p:nvPr/>
        </p:nvSpPr>
        <p:spPr>
          <a:xfrm>
            <a:off x="5202021" y="411480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o 33"/>
          <p:cNvSpPr txBox="1"/>
          <p:nvPr/>
        </p:nvSpPr>
        <p:spPr>
          <a:xfrm>
            <a:off x="5348325" y="42428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Embedding</a:t>
            </a:r>
            <a:endParaRPr lang="es-CO" sz="1200" dirty="0"/>
          </a:p>
        </p:txBody>
      </p:sp>
      <p:sp>
        <p:nvSpPr>
          <p:cNvPr id="34" name="Texto 34"/>
          <p:cNvSpPr txBox="1"/>
          <p:nvPr/>
        </p:nvSpPr>
        <p:spPr>
          <a:xfrm>
            <a:off x="5348325" y="44988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172033"/>
                </a:solidFill>
                <a:latin typeface="Arial"/>
                <a:cs typeface="Arial"/>
              </a:rPr>
              <a:t>Misma red ONNX local</a:t>
            </a:r>
            <a:endParaRPr lang="es-CO" sz="1300" dirty="0"/>
          </a:p>
        </p:txBody>
      </p:sp>
      <p:sp>
        <p:nvSpPr>
          <p:cNvPr id="35" name="Forma 35"/>
          <p:cNvSpPr/>
          <p:nvPr/>
        </p:nvSpPr>
        <p:spPr>
          <a:xfrm>
            <a:off x="9591141" y="411480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o 36"/>
          <p:cNvSpPr txBox="1"/>
          <p:nvPr/>
        </p:nvSpPr>
        <p:spPr>
          <a:xfrm>
            <a:off x="9737445" y="42428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Búsqueda</a:t>
            </a:r>
            <a:endParaRPr lang="es-CO" sz="1200" dirty="0"/>
          </a:p>
        </p:txBody>
      </p:sp>
      <p:sp>
        <p:nvSpPr>
          <p:cNvPr id="37" name="Texto 37"/>
          <p:cNvSpPr txBox="1"/>
          <p:nvPr/>
        </p:nvSpPr>
        <p:spPr>
          <a:xfrm>
            <a:off x="9737445" y="44988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172033"/>
                </a:solidFill>
                <a:latin typeface="Arial"/>
                <a:cs typeface="Arial"/>
              </a:rPr>
              <a:t>Top 4 con similitud ≥ 0,3</a:t>
            </a:r>
            <a:endParaRPr lang="es-CO" sz="1300" dirty="0"/>
          </a:p>
        </p:txBody>
      </p:sp>
      <p:cxnSp>
        <p:nvCxnSpPr>
          <p:cNvPr id="38" name="Flecha 38"/>
          <p:cNvCxnSpPr/>
          <p:nvPr/>
        </p:nvCxnSpPr>
        <p:spPr>
          <a:xfrm>
            <a:off x="2641701" y="4572000"/>
            <a:ext cx="320040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cxnSp>
        <p:nvCxnSpPr>
          <p:cNvPr id="39" name="Flecha 39"/>
          <p:cNvCxnSpPr/>
          <p:nvPr/>
        </p:nvCxnSpPr>
        <p:spPr>
          <a:xfrm>
            <a:off x="4836261" y="4572000"/>
            <a:ext cx="320040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cxnSp>
        <p:nvCxnSpPr>
          <p:cNvPr id="40" name="Flecha 40"/>
          <p:cNvCxnSpPr/>
          <p:nvPr/>
        </p:nvCxnSpPr>
        <p:spPr>
          <a:xfrm>
            <a:off x="7030821" y="4572000"/>
            <a:ext cx="2514599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41" name="Texto 41"/>
          <p:cNvSpPr txBox="1"/>
          <p:nvPr/>
        </p:nvSpPr>
        <p:spPr>
          <a:xfrm>
            <a:off x="7305141" y="42428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CO" sz="1100" dirty="0">
                <a:solidFill>
                  <a:srgbClr val="5A6273"/>
                </a:solidFill>
                <a:latin typeface="Arial"/>
                <a:cs typeface="Arial"/>
              </a:rPr>
              <a:t>vector de la consulta</a:t>
            </a:r>
            <a:endParaRPr lang="es-CO" sz="1100" dirty="0"/>
          </a:p>
        </p:txBody>
      </p:sp>
      <p:cxnSp>
        <p:nvCxnSpPr>
          <p:cNvPr id="42" name="Flecha 42"/>
          <p:cNvCxnSpPr/>
          <p:nvPr/>
        </p:nvCxnSpPr>
        <p:spPr>
          <a:xfrm>
            <a:off x="10482681" y="3611879"/>
            <a:ext cx="0" cy="457200"/>
          </a:xfrm>
          <a:prstGeom prst="straightConnector1">
            <a:avLst/>
          </a:prstGeom>
          <a:ln w="22225">
            <a:solidFill>
              <a:srgbClr val="2F5FB8"/>
            </a:solidFill>
            <a:prstDash val="dash"/>
            <a:tailEnd type="triangle" w="med" len="med"/>
          </a:ln>
        </p:spPr>
      </p:cxnSp>
      <p:sp>
        <p:nvSpPr>
          <p:cNvPr id="43" name="Texto 43"/>
          <p:cNvSpPr txBox="1"/>
          <p:nvPr/>
        </p:nvSpPr>
        <p:spPr>
          <a:xfrm>
            <a:off x="10574121" y="3675887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100" dirty="0">
                <a:solidFill>
                  <a:srgbClr val="2F5FB8"/>
                </a:solidFill>
                <a:latin typeface="Arial"/>
                <a:cs typeface="Arial"/>
              </a:rPr>
              <a:t>lee</a:t>
            </a:r>
            <a:endParaRPr lang="es-CO" sz="1100" dirty="0"/>
          </a:p>
        </p:txBody>
      </p:sp>
      <p:cxnSp>
        <p:nvCxnSpPr>
          <p:cNvPr id="44" name="Flecha 44"/>
          <p:cNvCxnSpPr/>
          <p:nvPr/>
        </p:nvCxnSpPr>
        <p:spPr>
          <a:xfrm>
            <a:off x="10482681" y="5074920"/>
            <a:ext cx="0" cy="18288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45" name="Forma 45"/>
          <p:cNvSpPr/>
          <p:nvPr/>
        </p:nvSpPr>
        <p:spPr>
          <a:xfrm>
            <a:off x="812901" y="5285232"/>
            <a:ext cx="10563148" cy="566928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o 46"/>
          <p:cNvSpPr txBox="1"/>
          <p:nvPr/>
        </p:nvSpPr>
        <p:spPr>
          <a:xfrm>
            <a:off x="1041501" y="5440680"/>
            <a:ext cx="1010594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B4481A"/>
                </a:solidFill>
                <a:latin typeface="Courier New"/>
                <a:cs typeface="Courier New"/>
              </a:rPr>
              <a:t>RESULTADO  </a:t>
            </a:r>
            <a:r>
              <a:rPr lang="es-CO" sz="1400" dirty="0">
                <a:solidFill>
                  <a:srgbClr val="172033"/>
                </a:solidFill>
                <a:latin typeface="Arial"/>
                <a:cs typeface="Arial"/>
              </a:rPr>
              <a:t>Los fragmentos más parecidos vuelven al agente, que los usa para justificar su diseño.</a:t>
            </a:r>
            <a:endParaRPr lang="es-CO" sz="1200" dirty="0"/>
          </a:p>
        </p:txBody>
      </p:sp>
      <p:sp>
        <p:nvSpPr>
          <p:cNvPr id="47" name="Texto 47"/>
          <p:cNvSpPr txBox="1"/>
          <p:nvPr/>
        </p:nvSpPr>
        <p:spPr>
          <a:xfrm>
            <a:off x="812901" y="6035040"/>
            <a:ext cx="1056314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5A6273"/>
                </a:solidFill>
                <a:latin typeface="Arial"/>
                <a:cs typeface="Arial"/>
              </a:rPr>
              <a:t>Sin API key ni cuota de Gemini: los embeddings se calculan en el equipo. Solo se reindexa si cambia algún documento.</a:t>
            </a:r>
            <a:endParaRPr lang="es-CO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 3"/>
          <p:cNvSpPr txBox="1"/>
          <p:nvPr/>
        </p:nvSpPr>
        <p:spPr>
          <a:xfrm>
            <a:off x="812901" y="863193"/>
            <a:ext cx="1056314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B4481A"/>
                </a:solidFill>
                <a:latin typeface="Courier New"/>
                <a:cs typeface="Courier New"/>
              </a:rPr>
              <a:t>ANEXO B · MCP</a:t>
            </a:r>
            <a:endParaRPr lang="es-CO" sz="1200" dirty="0"/>
          </a:p>
        </p:txBody>
      </p:sp>
      <p:sp>
        <p:nvSpPr>
          <p:cNvPr id="4" name="Texto 4"/>
          <p:cNvSpPr txBox="1"/>
          <p:nvPr/>
        </p:nvSpPr>
        <p:spPr>
          <a:xfrm>
            <a:off x="812901" y="1481328"/>
            <a:ext cx="105631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3200" b="1" dirty="0">
                <a:solidFill>
                  <a:srgbClr val="172033"/>
                </a:solidFill>
                <a:latin typeface="Arial"/>
                <a:cs typeface="Arial"/>
              </a:rPr>
              <a:t>Pipeline de MCP: búsqueda web para el BOM</a:t>
            </a:r>
            <a:endParaRPr lang="es-CO" sz="3200" dirty="0"/>
          </a:p>
        </p:txBody>
      </p:sp>
      <p:sp>
        <p:nvSpPr>
          <p:cNvPr id="5" name="Texto 5"/>
          <p:cNvSpPr txBox="1"/>
          <p:nvPr/>
        </p:nvSpPr>
        <p:spPr>
          <a:xfrm>
            <a:off x="812901" y="2331720"/>
            <a:ext cx="1056314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5A6273"/>
                </a:solidFill>
                <a:latin typeface="Courier New"/>
                <a:cs typeface="Courier New"/>
              </a:rPr>
              <a:t>FLUJO DE UNA BÚSQUEDA</a:t>
            </a:r>
            <a:endParaRPr lang="es-CO" sz="1200" dirty="0"/>
          </a:p>
        </p:txBody>
      </p:sp>
      <p:sp>
        <p:nvSpPr>
          <p:cNvPr id="6" name="Forma 6"/>
          <p:cNvSpPr/>
          <p:nvPr/>
        </p:nvSpPr>
        <p:spPr>
          <a:xfrm>
            <a:off x="81290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o 7"/>
          <p:cNvSpPr txBox="1"/>
          <p:nvPr/>
        </p:nvSpPr>
        <p:spPr>
          <a:xfrm>
            <a:off x="95920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Agente</a:t>
            </a:r>
            <a:endParaRPr lang="es-CO" sz="1200" dirty="0"/>
          </a:p>
        </p:txBody>
      </p:sp>
      <p:sp>
        <p:nvSpPr>
          <p:cNvPr id="8" name="Texto 8"/>
          <p:cNvSpPr txBox="1"/>
          <p:nvPr/>
        </p:nvSpPr>
        <p:spPr>
          <a:xfrm>
            <a:off x="95920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Mecánica o Electrónica</a:t>
            </a:r>
            <a:endParaRPr lang="es-CO" sz="1300" dirty="0"/>
          </a:p>
        </p:txBody>
      </p:sp>
      <p:cxnSp>
        <p:nvCxnSpPr>
          <p:cNvPr id="9" name="Flecha 9"/>
          <p:cNvCxnSpPr/>
          <p:nvPr/>
        </p:nvCxnSpPr>
        <p:spPr>
          <a:xfrm>
            <a:off x="2641701" y="3108960"/>
            <a:ext cx="320040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10" name="Forma 10"/>
          <p:cNvSpPr/>
          <p:nvPr/>
        </p:nvSpPr>
        <p:spPr>
          <a:xfrm>
            <a:off x="300746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o 11"/>
          <p:cNvSpPr txBox="1"/>
          <p:nvPr/>
        </p:nvSpPr>
        <p:spPr>
          <a:xfrm>
            <a:off x="315376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CrewAI mcps=</a:t>
            </a:r>
            <a:endParaRPr lang="es-CO" sz="1200" dirty="0"/>
          </a:p>
        </p:txBody>
      </p:sp>
      <p:sp>
        <p:nvSpPr>
          <p:cNvPr id="12" name="Texto 12"/>
          <p:cNvSpPr txBox="1"/>
          <p:nvPr/>
        </p:nvSpPr>
        <p:spPr>
          <a:xfrm>
            <a:off x="315376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MCPServerHTTP</a:t>
            </a:r>
            <a:endParaRPr lang="es-CO" sz="1300" dirty="0"/>
          </a:p>
        </p:txBody>
      </p:sp>
      <p:cxnSp>
        <p:nvCxnSpPr>
          <p:cNvPr id="13" name="Flecha 13"/>
          <p:cNvCxnSpPr/>
          <p:nvPr/>
        </p:nvCxnSpPr>
        <p:spPr>
          <a:xfrm>
            <a:off x="4836261" y="3108960"/>
            <a:ext cx="320040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14" name="Forma 14"/>
          <p:cNvSpPr/>
          <p:nvPr/>
        </p:nvSpPr>
        <p:spPr>
          <a:xfrm>
            <a:off x="520202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o 15"/>
          <p:cNvSpPr txBox="1"/>
          <p:nvPr/>
        </p:nvSpPr>
        <p:spPr>
          <a:xfrm>
            <a:off x="534832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Tavily MCP</a:t>
            </a:r>
            <a:endParaRPr lang="es-CO" sz="1200" dirty="0"/>
          </a:p>
        </p:txBody>
      </p:sp>
      <p:sp>
        <p:nvSpPr>
          <p:cNvPr id="16" name="Texto 16"/>
          <p:cNvSpPr txBox="1"/>
          <p:nvPr/>
        </p:nvSpPr>
        <p:spPr>
          <a:xfrm>
            <a:off x="534832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Servidor remoto por HTTP</a:t>
            </a:r>
            <a:endParaRPr lang="es-CO" sz="1300" dirty="0"/>
          </a:p>
        </p:txBody>
      </p:sp>
      <p:cxnSp>
        <p:nvCxnSpPr>
          <p:cNvPr id="17" name="Flecha 17"/>
          <p:cNvCxnSpPr/>
          <p:nvPr/>
        </p:nvCxnSpPr>
        <p:spPr>
          <a:xfrm>
            <a:off x="7030821" y="3108960"/>
            <a:ext cx="320039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18" name="Forma 18"/>
          <p:cNvSpPr/>
          <p:nvPr/>
        </p:nvSpPr>
        <p:spPr>
          <a:xfrm>
            <a:off x="739658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o 19"/>
          <p:cNvSpPr txBox="1"/>
          <p:nvPr/>
        </p:nvSpPr>
        <p:spPr>
          <a:xfrm>
            <a:off x="754288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Herramientas</a:t>
            </a:r>
            <a:endParaRPr lang="es-CO" sz="1200" dirty="0"/>
          </a:p>
        </p:txBody>
      </p:sp>
      <p:sp>
        <p:nvSpPr>
          <p:cNvPr id="20" name="Texto 20"/>
          <p:cNvSpPr txBox="1"/>
          <p:nvPr/>
        </p:nvSpPr>
        <p:spPr>
          <a:xfrm>
            <a:off x="754288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tavily_search y tavily_extract</a:t>
            </a:r>
            <a:endParaRPr lang="es-CO" sz="1300" dirty="0"/>
          </a:p>
        </p:txBody>
      </p:sp>
      <p:cxnSp>
        <p:nvCxnSpPr>
          <p:cNvPr id="21" name="Flecha 21"/>
          <p:cNvCxnSpPr/>
          <p:nvPr/>
        </p:nvCxnSpPr>
        <p:spPr>
          <a:xfrm>
            <a:off x="9225381" y="3108960"/>
            <a:ext cx="320039" cy="0"/>
          </a:xfrm>
          <a:prstGeom prst="straightConnector1">
            <a:avLst/>
          </a:prstGeom>
          <a:ln w="22225">
            <a:solidFill>
              <a:srgbClr val="E8692A"/>
            </a:solidFill>
            <a:tailEnd type="triangle" w="med" len="med"/>
          </a:ln>
        </p:spPr>
      </p:cxnSp>
      <p:sp>
        <p:nvSpPr>
          <p:cNvPr id="22" name="Forma 22"/>
          <p:cNvSpPr/>
          <p:nvPr/>
        </p:nvSpPr>
        <p:spPr>
          <a:xfrm>
            <a:off x="9591141" y="2651760"/>
            <a:ext cx="1783080" cy="914400"/>
          </a:xfrm>
          <a:prstGeom prst="roundRect">
            <a:avLst>
              <a:gd name="adj" fmla="val 10276"/>
            </a:avLst>
          </a:prstGeom>
          <a:solidFill>
            <a:srgbClr val="111A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o 23"/>
          <p:cNvSpPr txBox="1"/>
          <p:nvPr/>
        </p:nvSpPr>
        <p:spPr>
          <a:xfrm>
            <a:off x="9737445" y="277977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E8692A"/>
                </a:solidFill>
                <a:latin typeface="Courier New"/>
                <a:cs typeface="Courier New"/>
              </a:rPr>
              <a:t>BOM</a:t>
            </a:r>
            <a:endParaRPr lang="es-CO" sz="1200" dirty="0"/>
          </a:p>
        </p:txBody>
      </p:sp>
      <p:sp>
        <p:nvSpPr>
          <p:cNvPr id="24" name="Texto 24"/>
          <p:cNvSpPr txBox="1"/>
          <p:nvPr/>
        </p:nvSpPr>
        <p:spPr>
          <a:xfrm>
            <a:off x="9737445" y="303580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3F1EB"/>
                </a:solidFill>
                <a:latin typeface="Arial"/>
                <a:cs typeface="Arial"/>
              </a:rPr>
              <a:t>Productos reales con su URL</a:t>
            </a:r>
            <a:endParaRPr lang="es-CO" sz="1300" dirty="0"/>
          </a:p>
        </p:txBody>
      </p:sp>
      <p:sp>
        <p:nvSpPr>
          <p:cNvPr id="25" name="Texto 25"/>
          <p:cNvSpPr txBox="1"/>
          <p:nvPr/>
        </p:nvSpPr>
        <p:spPr>
          <a:xfrm>
            <a:off x="812901" y="3840480"/>
            <a:ext cx="1056314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5A6273"/>
                </a:solidFill>
                <a:latin typeface="Courier New"/>
                <a:cs typeface="Courier New"/>
              </a:rPr>
              <a:t>CONTROLES SOBRE CADA TAREA</a:t>
            </a:r>
            <a:endParaRPr lang="es-CO" sz="1200" dirty="0"/>
          </a:p>
        </p:txBody>
      </p:sp>
      <p:sp>
        <p:nvSpPr>
          <p:cNvPr id="26" name="Forma 26"/>
          <p:cNvSpPr/>
          <p:nvPr/>
        </p:nvSpPr>
        <p:spPr>
          <a:xfrm>
            <a:off x="812901" y="4160520"/>
            <a:ext cx="2526487" cy="1645920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o 27"/>
          <p:cNvSpPr txBox="1"/>
          <p:nvPr/>
        </p:nvSpPr>
        <p:spPr>
          <a:xfrm>
            <a:off x="995781" y="4343400"/>
            <a:ext cx="2160727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600" b="1" dirty="0">
                <a:solidFill>
                  <a:srgbClr val="172033"/>
                </a:solidFill>
                <a:latin typeface="Arial"/>
                <a:cs typeface="Arial"/>
              </a:rPr>
              <a:t>Tope por tarea</a:t>
            </a:r>
            <a:endParaRPr lang="es-CO" sz="1600" dirty="0"/>
          </a:p>
        </p:txBody>
      </p:sp>
      <p:sp>
        <p:nvSpPr>
          <p:cNvPr id="28" name="Texto 28"/>
          <p:cNvSpPr txBox="1"/>
          <p:nvPr/>
        </p:nvSpPr>
        <p:spPr>
          <a:xfrm>
            <a:off x="995781" y="4727448"/>
            <a:ext cx="2160727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475063"/>
                </a:solidFill>
                <a:latin typeface="Arial"/>
                <a:cs typeface="Arial"/>
              </a:rPr>
              <a:t>Máximo 4 búsquedas. Después, la herramienta le pide al agente redactar con lo que tiene.</a:t>
            </a:r>
            <a:endParaRPr lang="es-CO" sz="1200" dirty="0"/>
          </a:p>
        </p:txBody>
      </p:sp>
      <p:sp>
        <p:nvSpPr>
          <p:cNvPr id="29" name="Forma 29"/>
          <p:cNvSpPr/>
          <p:nvPr/>
        </p:nvSpPr>
        <p:spPr>
          <a:xfrm>
            <a:off x="3492093" y="4160520"/>
            <a:ext cx="2526487" cy="1645920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o 30"/>
          <p:cNvSpPr txBox="1"/>
          <p:nvPr/>
        </p:nvSpPr>
        <p:spPr>
          <a:xfrm>
            <a:off x="3674973" y="4343400"/>
            <a:ext cx="2160727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600" b="1" dirty="0">
                <a:solidFill>
                  <a:srgbClr val="172033"/>
                </a:solidFill>
                <a:latin typeface="Arial"/>
                <a:cs typeface="Arial"/>
              </a:rPr>
              <a:t>Guardrail</a:t>
            </a:r>
            <a:endParaRPr lang="es-CO" sz="1600" dirty="0"/>
          </a:p>
        </p:txBody>
      </p:sp>
      <p:sp>
        <p:nvSpPr>
          <p:cNvPr id="31" name="Texto 31"/>
          <p:cNvSpPr txBox="1"/>
          <p:nvPr/>
        </p:nvSpPr>
        <p:spPr>
          <a:xfrm>
            <a:off x="3674973" y="4727448"/>
            <a:ext cx="2160727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475063"/>
                </a:solidFill>
                <a:latin typeface="Arial"/>
                <a:cs typeface="Arial"/>
              </a:rPr>
              <a:t>Exige al menos una búsqueda y que el BOM cite una URL devuelta. Si no, reescribe (hasta 2 veces).</a:t>
            </a:r>
            <a:endParaRPr lang="es-CO" sz="1200" dirty="0"/>
          </a:p>
        </p:txBody>
      </p:sp>
      <p:sp>
        <p:nvSpPr>
          <p:cNvPr id="32" name="Forma 32"/>
          <p:cNvSpPr/>
          <p:nvPr/>
        </p:nvSpPr>
        <p:spPr>
          <a:xfrm>
            <a:off x="6171285" y="4160520"/>
            <a:ext cx="2526487" cy="1645920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o 33"/>
          <p:cNvSpPr txBox="1"/>
          <p:nvPr/>
        </p:nvSpPr>
        <p:spPr>
          <a:xfrm>
            <a:off x="6354165" y="4343400"/>
            <a:ext cx="2160727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600" b="1" dirty="0">
                <a:solidFill>
                  <a:srgbClr val="172033"/>
                </a:solidFill>
                <a:latin typeface="Arial"/>
                <a:cs typeface="Arial"/>
              </a:rPr>
              <a:t>Registro</a:t>
            </a:r>
            <a:endParaRPr lang="es-CO" sz="1600" dirty="0"/>
          </a:p>
        </p:txBody>
      </p:sp>
      <p:sp>
        <p:nvSpPr>
          <p:cNvPr id="34" name="Texto 34"/>
          <p:cNvSpPr txBox="1"/>
          <p:nvPr/>
        </p:nvSpPr>
        <p:spPr>
          <a:xfrm>
            <a:off x="6354165" y="4727448"/>
            <a:ext cx="2160727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475063"/>
                </a:solidFill>
                <a:latin typeface="Arial"/>
                <a:cs typeface="Arial"/>
              </a:rPr>
              <a:t>Cada conexión y cada búsqueda, con sus URL, queda en output/_mcp.log y en la consola.</a:t>
            </a:r>
            <a:endParaRPr lang="es-CO" sz="1200" dirty="0"/>
          </a:p>
        </p:txBody>
      </p:sp>
      <p:sp>
        <p:nvSpPr>
          <p:cNvPr id="35" name="Forma 35"/>
          <p:cNvSpPr/>
          <p:nvPr/>
        </p:nvSpPr>
        <p:spPr>
          <a:xfrm>
            <a:off x="8850477" y="4160520"/>
            <a:ext cx="2526487" cy="1645920"/>
          </a:xfrm>
          <a:prstGeom prst="roundRect">
            <a:avLst>
              <a:gd name="adj" fmla="val 4002"/>
            </a:avLst>
          </a:prstGeom>
          <a:solidFill>
            <a:srgbClr val="FBFAF6"/>
          </a:solidFill>
          <a:ln w="9525">
            <a:solidFill>
              <a:srgbClr val="DCD8C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o 36"/>
          <p:cNvSpPr txBox="1"/>
          <p:nvPr/>
        </p:nvSpPr>
        <p:spPr>
          <a:xfrm>
            <a:off x="9033357" y="4343400"/>
            <a:ext cx="2160727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600" b="1" dirty="0">
                <a:solidFill>
                  <a:srgbClr val="172033"/>
                </a:solidFill>
                <a:latin typeface="Arial"/>
                <a:cs typeface="Arial"/>
              </a:rPr>
              <a:t>Seguridad y costo</a:t>
            </a:r>
            <a:endParaRPr lang="es-CO" sz="1600" dirty="0"/>
          </a:p>
        </p:txBody>
      </p:sp>
      <p:sp>
        <p:nvSpPr>
          <p:cNvPr id="37" name="Texto 37"/>
          <p:cNvSpPr txBox="1"/>
          <p:nvPr/>
        </p:nvSpPr>
        <p:spPr>
          <a:xfrm>
            <a:off x="9033357" y="4727448"/>
            <a:ext cx="2160727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475063"/>
                </a:solidFill>
                <a:latin typeface="Arial"/>
                <a:cs typeface="Arial"/>
              </a:rPr>
              <a:t>API key en el encabezado, no en la URL. Solo 2 herramientas de Tavily habilitadas.</a:t>
            </a:r>
            <a:endParaRPr lang="es-CO" sz="1200" dirty="0"/>
          </a:p>
        </p:txBody>
      </p:sp>
      <p:sp>
        <p:nvSpPr>
          <p:cNvPr id="38" name="Texto 38"/>
          <p:cNvSpPr txBox="1"/>
          <p:nvPr/>
        </p:nvSpPr>
        <p:spPr>
          <a:xfrm>
            <a:off x="812901" y="6035040"/>
            <a:ext cx="1056314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CO" sz="1200" dirty="0">
                <a:solidFill>
                  <a:srgbClr val="5A6273"/>
                </a:solidFill>
                <a:latin typeface="Arial"/>
                <a:cs typeface="Arial"/>
              </a:rPr>
              <a:t>Sin TAVILY_API_KEY en el .env, los agentes corren igual, pero sin búsqueda web.</a:t>
            </a:r>
            <a:endParaRPr lang="es-CO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69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E869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 · CIERRE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809948"/>
            <a:ext cx="7063740" cy="235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20"/>
              </a:lnSpc>
              <a:buNone/>
            </a:pPr>
            <a:r>
              <a:rPr lang="en-US" sz="6000" b="1" i="0" kern="0" spc="-100" dirty="0">
                <a:solidFill>
                  <a:srgbClr val="F3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¿Preguntas?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4395490"/>
            <a:ext cx="706374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agentes, siete tareas y un dossier VDI 2206 completo, con RAG, MCP y guardrails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796359"/>
            <a:ext cx="10883392" cy="78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Andres Arteaga · Franco Garces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3D6"/>
                </a:solidFill>
                <a:latin typeface="Arial" pitchFamily="34" charset="0"/>
                <a:cs typeface="Arial" pitchFamily="34" charset="-120"/>
              </a:rPr>
              <a:t>github.com/AAV-99/VDI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17000" y="1587500"/>
            <a:ext cx="25400" cy="3683000"/>
          </a:xfrm>
          <a:prstGeom prst="rect">
            <a:avLst/>
          </a:prstGeom>
          <a:solidFill>
            <a:srgbClr val="2B39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515350" y="14414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E8692A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Integración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15350" y="21399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Mecánica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15350" y="28384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Electrónica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15350" y="35369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15350" y="42354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2B3956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Mantenimiento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15350" y="4933950"/>
            <a:ext cx="2146300" cy="378420"/>
          </a:xfrm>
          <a:prstGeom prst="roundRect">
            <a:avLst>
              <a:gd name="adj" fmla="val 45307"/>
            </a:avLst>
          </a:prstGeom>
          <a:solidFill>
            <a:srgbClr val="1C2840"/>
          </a:solidFill>
          <a:ln w="12700">
            <a:solidFill>
              <a:srgbClr val="E8692A"/>
            </a:solidFill>
            <a:prstDash val="solid"/>
          </a:ln>
        </p:spPr>
        <p:txBody>
          <a:bodyPr wrap="square" lIns="81102" tIns="32334" rIns="81102" bIns="6934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Cliente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DI 2206 Multiagente — Proyecto Final NLP">
  <a:themeElements>
    <a:clrScheme name="VDI 2206 Multiagente — Proyecto Final NLP">
      <a:dk1>
        <a:srgbClr val="172033"/>
      </a:dk1>
      <a:lt1>
        <a:srgbClr val="F3F1EB"/>
      </a:lt1>
      <a:dk2>
        <a:srgbClr val="4E5461"/>
      </a:dk2>
      <a:lt2>
        <a:srgbClr val="DDDCD9"/>
      </a:lt2>
      <a:accent1>
        <a:srgbClr val="E8692A"/>
      </a:accent1>
      <a:accent2>
        <a:srgbClr val="B4481A"/>
      </a:accent2>
      <a:accent3>
        <a:srgbClr val="2F5FB8"/>
      </a:accent3>
      <a:accent4>
        <a:srgbClr val="2B3956"/>
      </a:accent4>
      <a:accent5>
        <a:srgbClr val="B9C3D6"/>
      </a:accent5>
      <a:accent6>
        <a:srgbClr val="475063"/>
      </a:accent6>
      <a:hlink>
        <a:srgbClr val="0563C1"/>
      </a:hlink>
      <a:folHlink>
        <a:srgbClr val="954F72"/>
      </a:folHlink>
    </a:clrScheme>
    <a:fontScheme name="VDI 2206 Multiagente — Proyecto Final NL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1839</Words>
  <Application>Microsoft Office PowerPoint</Application>
  <PresentationFormat>Panorámica</PresentationFormat>
  <Paragraphs>179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VDI 2206 Multiagente — Proyecto Final NLP</vt:lpstr>
      <vt:lpstr>Un equipo de ingeniería hecho de agentes</vt:lpstr>
      <vt:lpstr>Diseñar sistemas mecatrónicos es difícil</vt:lpstr>
      <vt:lpstr>Una junta de diseño hecha de agentes</vt:lpstr>
      <vt:lpstr>Cada técnica del curso tiene su lugar</vt:lpstr>
      <vt:lpstr>Demo: gripper de vacío, de punta a punta</vt:lpstr>
      <vt:lpstr>Cada corrida queda auditada</vt:lpstr>
      <vt:lpstr>Lo que hicimos frente a la rúbrica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VDI 2206 Multiagente — Proyecto Final NLP</dc:title>
  <dc:subject/>
  <dc:creator/>
  <cp:lastModifiedBy>Franco Garces</cp:lastModifiedBy>
  <cp:revision>2</cp:revision>
  <dcterms:created xsi:type="dcterms:W3CDTF">2026-10-13T02:31:06Z</dcterms:created>
  <dcterms:modified xsi:type="dcterms:W3CDTF">2026-10-13T02:41:20Z</dcterms:modified>
</cp:coreProperties>
</file>